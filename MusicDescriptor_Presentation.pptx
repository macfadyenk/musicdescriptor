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8" r:id="rId2"/>
  </p:sldMasterIdLst>
  <p:notesMasterIdLst>
    <p:notesMasterId r:id="rId15"/>
  </p:notesMasterIdLst>
  <p:sldIdLst>
    <p:sldId id="256" r:id="rId3"/>
    <p:sldId id="257" r:id="rId4"/>
    <p:sldId id="258" r:id="rId5"/>
    <p:sldId id="263" r:id="rId6"/>
    <p:sldId id="261" r:id="rId7"/>
    <p:sldId id="262" r:id="rId8"/>
    <p:sldId id="259" r:id="rId9"/>
    <p:sldId id="264" r:id="rId10"/>
    <p:sldId id="260" r:id="rId11"/>
    <p:sldId id="266" r:id="rId12"/>
    <p:sldId id="267" r:id="rId13"/>
    <p:sldId id="265"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55" autoAdjust="0"/>
    <p:restoredTop sz="94660"/>
  </p:normalViewPr>
  <p:slideViewPr>
    <p:cSldViewPr snapToGrid="0">
      <p:cViewPr varScale="1">
        <p:scale>
          <a:sx n="92" d="100"/>
          <a:sy n="92" d="100"/>
        </p:scale>
        <p:origin x="108" y="21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B72292-9FFF-4C4F-8046-DD0DB94585D7}" type="datetimeFigureOut">
              <a:rPr lang="en-US" smtClean="0"/>
              <a:t>4/13/2026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E65C1B-94F5-4427-B681-DF16C9C17A8A}" type="slidenum">
              <a:rPr lang="en-US" smtClean="0"/>
              <a:t>‹#›</a:t>
            </a:fld>
            <a:endParaRPr lang="en-US"/>
          </a:p>
        </p:txBody>
      </p:sp>
    </p:spTree>
    <p:extLst>
      <p:ext uri="{BB962C8B-B14F-4D97-AF65-F5344CB8AC3E}">
        <p14:creationId xmlns:p14="http://schemas.microsoft.com/office/powerpoint/2010/main" val="42782941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Qualitative – more similar phrasing to original after fine-tuning, like the ‘low quality’ or ‘4 on the floor’ in quotations, but can repeat phrases and cut off suddenly.</a:t>
            </a:r>
          </a:p>
          <a:p>
            <a:r>
              <a:rPr lang="en-US" dirty="0"/>
              <a:t>Quantitative – after fine tuning, all metrics increased, but larger increases seemed to occur in the recall based metrics more than for precision, indicating that the model widened its range of topics to be more inclusive, but may still contain irrelevant information.</a:t>
            </a:r>
          </a:p>
        </p:txBody>
      </p:sp>
      <p:sp>
        <p:nvSpPr>
          <p:cNvPr id="4" name="Slide Number Placeholder 3"/>
          <p:cNvSpPr>
            <a:spLocks noGrp="1"/>
          </p:cNvSpPr>
          <p:nvPr>
            <p:ph type="sldNum" sz="quarter" idx="5"/>
          </p:nvPr>
        </p:nvSpPr>
        <p:spPr/>
        <p:txBody>
          <a:bodyPr/>
          <a:lstStyle/>
          <a:p>
            <a:fld id="{14E65C1B-94F5-4427-B681-DF16C9C17A8A}" type="slidenum">
              <a:rPr lang="en-US" smtClean="0"/>
              <a:t>7</a:t>
            </a:fld>
            <a:endParaRPr lang="en-US"/>
          </a:p>
        </p:txBody>
      </p:sp>
    </p:spTree>
    <p:extLst>
      <p:ext uri="{BB962C8B-B14F-4D97-AF65-F5344CB8AC3E}">
        <p14:creationId xmlns:p14="http://schemas.microsoft.com/office/powerpoint/2010/main" val="40393055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Other Models: LP-</a:t>
            </a:r>
            <a:r>
              <a:rPr lang="en-US" dirty="0" err="1"/>
              <a:t>MusicCaps</a:t>
            </a:r>
            <a:r>
              <a:rPr lang="en-US" dirty="0"/>
              <a:t>, </a:t>
            </a:r>
            <a:r>
              <a:rPr lang="en-US" dirty="0" err="1"/>
              <a:t>MusiLingo</a:t>
            </a:r>
            <a:r>
              <a:rPr lang="en-US" dirty="0"/>
              <a:t>, BLAP</a:t>
            </a:r>
          </a:p>
        </p:txBody>
      </p:sp>
      <p:sp>
        <p:nvSpPr>
          <p:cNvPr id="4" name="Slide Number Placeholder 3"/>
          <p:cNvSpPr>
            <a:spLocks noGrp="1"/>
          </p:cNvSpPr>
          <p:nvPr>
            <p:ph type="sldNum" sz="quarter" idx="5"/>
          </p:nvPr>
        </p:nvSpPr>
        <p:spPr/>
        <p:txBody>
          <a:bodyPr/>
          <a:lstStyle/>
          <a:p>
            <a:fld id="{14E65C1B-94F5-4427-B681-DF16C9C17A8A}" type="slidenum">
              <a:rPr lang="en-US" smtClean="0"/>
              <a:t>8</a:t>
            </a:fld>
            <a:endParaRPr lang="en-US"/>
          </a:p>
        </p:txBody>
      </p:sp>
    </p:spTree>
    <p:extLst>
      <p:ext uri="{BB962C8B-B14F-4D97-AF65-F5344CB8AC3E}">
        <p14:creationId xmlns:p14="http://schemas.microsoft.com/office/powerpoint/2010/main" val="36759711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txBody>
            <a:bodyPr/>
            <a:lstStyle/>
            <a:p>
              <a:endParaRPr lang="en-US"/>
            </a:p>
          </p:txBody>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txBody>
            <a:bodyPr/>
            <a:lstStyle/>
            <a:p>
              <a:endParaRPr lang="en-US"/>
            </a:p>
          </p:txBody>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txBody>
            <a:bodyPr/>
            <a:lstStyle/>
            <a:p>
              <a:endParaRPr lang="en-US"/>
            </a:p>
          </p:txBody>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A62620A-B9A1-4471-A07C-A69ABBD90298}" type="datetimeFigureOut">
              <a:rPr lang="en-US" smtClean="0"/>
              <a:t>4/13/2026</a:t>
            </a:fld>
            <a:endParaRPr lang="en-US"/>
          </a:p>
        </p:txBody>
      </p:sp>
      <p:sp>
        <p:nvSpPr>
          <p:cNvPr id="5" name="Footer Placeholder 4"/>
          <p:cNvSpPr>
            <a:spLocks noGrp="1"/>
          </p:cNvSpPr>
          <p:nvPr>
            <p:ph type="ftr" sz="quarter" idx="11"/>
          </p:nvPr>
        </p:nvSpPr>
        <p:spPr>
          <a:xfrm>
            <a:off x="5332412" y="5883275"/>
            <a:ext cx="4324044" cy="365125"/>
          </a:xfrm>
        </p:spPr>
        <p:txBody>
          <a:bodyPr/>
          <a:lstStyle/>
          <a:p>
            <a:endParaRPr lang="en-US"/>
          </a:p>
        </p:txBody>
      </p:sp>
      <p:sp>
        <p:nvSpPr>
          <p:cNvPr id="6" name="Slide Number Placeholder 5"/>
          <p:cNvSpPr>
            <a:spLocks noGrp="1"/>
          </p:cNvSpPr>
          <p:nvPr>
            <p:ph type="sldNum" sz="quarter" idx="12"/>
          </p:nvPr>
        </p:nvSpPr>
        <p:spPr/>
        <p:txBody>
          <a:bodyPr/>
          <a:lstStyle/>
          <a:p>
            <a:fld id="{092BDBF0-A307-46FD-BD0E-40D50FDCAA7E}" type="slidenum">
              <a:rPr lang="en-US" smtClean="0"/>
              <a:t>‹#›</a:t>
            </a:fld>
            <a:endParaRPr lang="en-US"/>
          </a:p>
        </p:txBody>
      </p:sp>
    </p:spTree>
    <p:extLst>
      <p:ext uri="{BB962C8B-B14F-4D97-AF65-F5344CB8AC3E}">
        <p14:creationId xmlns:p14="http://schemas.microsoft.com/office/powerpoint/2010/main" val="1641068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A62620A-B9A1-4471-A07C-A69ABBD90298}"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951856" y="5867131"/>
            <a:ext cx="551167" cy="365125"/>
          </a:xfrm>
        </p:spPr>
        <p:txBody>
          <a:bodyPr/>
          <a:lstStyle/>
          <a:p>
            <a:fld id="{092BDBF0-A307-46FD-BD0E-40D50FDCAA7E}" type="slidenum">
              <a:rPr lang="en-US" smtClean="0"/>
              <a:t>‹#›</a:t>
            </a:fld>
            <a:endParaRPr lang="en-US"/>
          </a:p>
        </p:txBody>
      </p:sp>
    </p:spTree>
    <p:extLst>
      <p:ext uri="{BB962C8B-B14F-4D97-AF65-F5344CB8AC3E}">
        <p14:creationId xmlns:p14="http://schemas.microsoft.com/office/powerpoint/2010/main" val="26304465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A62620A-B9A1-4471-A07C-A69ABBD90298}"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2BDBF0-A307-46FD-BD0E-40D50FDCAA7E}" type="slidenum">
              <a:rPr lang="en-US" smtClean="0"/>
              <a:t>‹#›</a:t>
            </a:fld>
            <a:endParaRPr lang="en-US"/>
          </a:p>
        </p:txBody>
      </p:sp>
    </p:spTree>
    <p:extLst>
      <p:ext uri="{BB962C8B-B14F-4D97-AF65-F5344CB8AC3E}">
        <p14:creationId xmlns:p14="http://schemas.microsoft.com/office/powerpoint/2010/main" val="22726783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A62620A-B9A1-4471-A07C-A69ABBD90298}" type="datetimeFigureOut">
              <a:rPr lang="en-US" smtClean="0"/>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92BDBF0-A307-46FD-BD0E-40D50FDCAA7E}" type="slidenum">
              <a:rPr lang="en-US" smtClean="0"/>
              <a:t>‹#›</a:t>
            </a:fld>
            <a:endParaRPr lang="en-US"/>
          </a:p>
        </p:txBody>
      </p:sp>
    </p:spTree>
    <p:extLst>
      <p:ext uri="{BB962C8B-B14F-4D97-AF65-F5344CB8AC3E}">
        <p14:creationId xmlns:p14="http://schemas.microsoft.com/office/powerpoint/2010/main" val="37230970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A62620A-B9A1-4471-A07C-A69ABBD90298}" type="datetimeFigureOut">
              <a:rPr lang="en-US" smtClean="0"/>
              <a:t>4/13/2026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92BDBF0-A307-46FD-BD0E-40D50FDCAA7E}" type="slidenum">
              <a:rPr lang="en-US" smtClean="0"/>
              <a:t>‹#›</a:t>
            </a:fld>
            <a:endParaRPr lang="en-US"/>
          </a:p>
        </p:txBody>
      </p:sp>
    </p:spTree>
    <p:extLst>
      <p:ext uri="{BB962C8B-B14F-4D97-AF65-F5344CB8AC3E}">
        <p14:creationId xmlns:p14="http://schemas.microsoft.com/office/powerpoint/2010/main" val="24574762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A62620A-B9A1-4471-A07C-A69ABBD90298}" type="datetimeFigureOut">
              <a:rPr lang="en-US" smtClean="0"/>
              <a:t>4/13/2026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92BDBF0-A307-46FD-BD0E-40D50FDCAA7E}" type="slidenum">
              <a:rPr lang="en-US" smtClean="0"/>
              <a:t>‹#›</a:t>
            </a:fld>
            <a:endParaRPr lang="en-US"/>
          </a:p>
        </p:txBody>
      </p:sp>
    </p:spTree>
    <p:extLst>
      <p:ext uri="{BB962C8B-B14F-4D97-AF65-F5344CB8AC3E}">
        <p14:creationId xmlns:p14="http://schemas.microsoft.com/office/powerpoint/2010/main" val="42188706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A62620A-B9A1-4471-A07C-A69ABBD90298}" type="datetimeFigureOut">
              <a:rPr lang="en-US" smtClean="0"/>
              <a:t>4/13/2026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92BDBF0-A307-46FD-BD0E-40D50FDCAA7E}" type="slidenum">
              <a:rPr lang="en-US" smtClean="0"/>
              <a:t>‹#›</a:t>
            </a:fld>
            <a:endParaRPr lang="en-US"/>
          </a:p>
        </p:txBody>
      </p:sp>
    </p:spTree>
    <p:extLst>
      <p:ext uri="{BB962C8B-B14F-4D97-AF65-F5344CB8AC3E}">
        <p14:creationId xmlns:p14="http://schemas.microsoft.com/office/powerpoint/2010/main" val="18525335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A62620A-B9A1-4471-A07C-A69ABBD90298}" type="datetimeFigureOut">
              <a:rPr lang="en-US" smtClean="0"/>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92BDBF0-A307-46FD-BD0E-40D50FDCAA7E}" type="slidenum">
              <a:rPr lang="en-US" smtClean="0"/>
              <a:t>‹#›</a:t>
            </a:fld>
            <a:endParaRPr lang="en-US"/>
          </a:p>
        </p:txBody>
      </p:sp>
    </p:spTree>
    <p:extLst>
      <p:ext uri="{BB962C8B-B14F-4D97-AF65-F5344CB8AC3E}">
        <p14:creationId xmlns:p14="http://schemas.microsoft.com/office/powerpoint/2010/main" val="28281744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A62620A-B9A1-4471-A07C-A69ABBD90298}" type="datetimeFigureOut">
              <a:rPr lang="en-US" smtClean="0"/>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92BDBF0-A307-46FD-BD0E-40D50FDCAA7E}" type="slidenum">
              <a:rPr lang="en-US" smtClean="0"/>
              <a:t>‹#›</a:t>
            </a:fld>
            <a:endParaRPr lang="en-US"/>
          </a:p>
        </p:txBody>
      </p:sp>
    </p:spTree>
    <p:extLst>
      <p:ext uri="{BB962C8B-B14F-4D97-AF65-F5344CB8AC3E}">
        <p14:creationId xmlns:p14="http://schemas.microsoft.com/office/powerpoint/2010/main" val="5601515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A62620A-B9A1-4471-A07C-A69ABBD90298}" type="datetimeFigureOut">
              <a:rPr lang="en-US" smtClean="0"/>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92BDBF0-A307-46FD-BD0E-40D50FDCAA7E}" type="slidenum">
              <a:rPr lang="en-US" smtClean="0"/>
              <a:t>‹#›</a:t>
            </a:fld>
            <a:endParaRPr lang="en-US"/>
          </a:p>
        </p:txBody>
      </p:sp>
    </p:spTree>
    <p:extLst>
      <p:ext uri="{BB962C8B-B14F-4D97-AF65-F5344CB8AC3E}">
        <p14:creationId xmlns:p14="http://schemas.microsoft.com/office/powerpoint/2010/main" val="16248693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A62620A-B9A1-4471-A07C-A69ABBD90298}"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2BDBF0-A307-46FD-BD0E-40D50FDCAA7E}" type="slidenum">
              <a:rPr lang="en-US" smtClean="0"/>
              <a:t>‹#›</a:t>
            </a:fld>
            <a:endParaRPr lang="en-US"/>
          </a:p>
        </p:txBody>
      </p:sp>
    </p:spTree>
    <p:extLst>
      <p:ext uri="{BB962C8B-B14F-4D97-AF65-F5344CB8AC3E}">
        <p14:creationId xmlns:p14="http://schemas.microsoft.com/office/powerpoint/2010/main" val="31086972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A62620A-B9A1-4471-A07C-A69ABBD90298}"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2BDBF0-A307-46FD-BD0E-40D50FDCAA7E}" type="slidenum">
              <a:rPr lang="en-US" smtClean="0"/>
              <a:t>‹#›</a:t>
            </a:fld>
            <a:endParaRPr lang="en-US"/>
          </a:p>
        </p:txBody>
      </p:sp>
    </p:spTree>
    <p:extLst>
      <p:ext uri="{BB962C8B-B14F-4D97-AF65-F5344CB8AC3E}">
        <p14:creationId xmlns:p14="http://schemas.microsoft.com/office/powerpoint/2010/main" val="41141043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A62620A-B9A1-4471-A07C-A69ABBD90298}"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2BDBF0-A307-46FD-BD0E-40D50FDCAA7E}" type="slidenum">
              <a:rPr lang="en-US" smtClean="0"/>
              <a:t>‹#›</a:t>
            </a:fld>
            <a:endParaRPr lang="en-US"/>
          </a:p>
        </p:txBody>
      </p:sp>
    </p:spTree>
    <p:extLst>
      <p:ext uri="{BB962C8B-B14F-4D97-AF65-F5344CB8AC3E}">
        <p14:creationId xmlns:p14="http://schemas.microsoft.com/office/powerpoint/2010/main" val="30396683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A62620A-B9A1-4471-A07C-A69ABBD90298}"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2BDBF0-A307-46FD-BD0E-40D50FDCAA7E}" type="slidenum">
              <a:rPr lang="en-US" smtClean="0"/>
              <a:t>‹#›</a:t>
            </a:fld>
            <a:endParaRPr lang="en-US"/>
          </a:p>
        </p:txBody>
      </p:sp>
    </p:spTree>
    <p:extLst>
      <p:ext uri="{BB962C8B-B14F-4D97-AF65-F5344CB8AC3E}">
        <p14:creationId xmlns:p14="http://schemas.microsoft.com/office/powerpoint/2010/main" val="6277635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A62620A-B9A1-4471-A07C-A69ABBD90298}"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2BDBF0-A307-46FD-BD0E-40D50FDCAA7E}" type="slidenum">
              <a:rPr lang="en-US" smtClean="0"/>
              <a:t>‹#›</a:t>
            </a:fld>
            <a:endParaRPr lang="en-US"/>
          </a:p>
        </p:txBody>
      </p:sp>
    </p:spTree>
    <p:extLst>
      <p:ext uri="{BB962C8B-B14F-4D97-AF65-F5344CB8AC3E}">
        <p14:creationId xmlns:p14="http://schemas.microsoft.com/office/powerpoint/2010/main" val="41730605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A62620A-B9A1-4471-A07C-A69ABBD90298}"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2BDBF0-A307-46FD-BD0E-40D50FDCAA7E}" type="slidenum">
              <a:rPr lang="en-US" smtClean="0"/>
              <a:t>‹#›</a:t>
            </a:fld>
            <a:endParaRPr lang="en-US"/>
          </a:p>
        </p:txBody>
      </p:sp>
    </p:spTree>
    <p:extLst>
      <p:ext uri="{BB962C8B-B14F-4D97-AF65-F5344CB8AC3E}">
        <p14:creationId xmlns:p14="http://schemas.microsoft.com/office/powerpoint/2010/main" val="19111218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A62620A-B9A1-4471-A07C-A69ABBD90298}"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2BDBF0-A307-46FD-BD0E-40D50FDCAA7E}" type="slidenum">
              <a:rPr lang="en-US" smtClean="0"/>
              <a:t>‹#›</a:t>
            </a:fld>
            <a:endParaRPr lang="en-US"/>
          </a:p>
        </p:txBody>
      </p:sp>
    </p:spTree>
    <p:extLst>
      <p:ext uri="{BB962C8B-B14F-4D97-AF65-F5344CB8AC3E}">
        <p14:creationId xmlns:p14="http://schemas.microsoft.com/office/powerpoint/2010/main" val="9286006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4B017-D7E8-87FF-4EE0-8ABBEB05546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7491928-FB27-97E7-A5F8-BD3775A6E12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05CE168-3622-96A8-9DE0-641A26E8C606}"/>
              </a:ext>
            </a:extLst>
          </p:cNvPr>
          <p:cNvSpPr>
            <a:spLocks noGrp="1"/>
          </p:cNvSpPr>
          <p:nvPr>
            <p:ph type="dt" sz="half" idx="10"/>
          </p:nvPr>
        </p:nvSpPr>
        <p:spPr/>
        <p:txBody>
          <a:bodyPr/>
          <a:lstStyle/>
          <a:p>
            <a:fld id="{1A62620A-B9A1-4471-A07C-A69ABBD90298}" type="datetimeFigureOut">
              <a:rPr lang="en-US" smtClean="0"/>
              <a:t>4/13/2026</a:t>
            </a:fld>
            <a:endParaRPr lang="en-US"/>
          </a:p>
        </p:txBody>
      </p:sp>
      <p:sp>
        <p:nvSpPr>
          <p:cNvPr id="5" name="Footer Placeholder 4">
            <a:extLst>
              <a:ext uri="{FF2B5EF4-FFF2-40B4-BE49-F238E27FC236}">
                <a16:creationId xmlns:a16="http://schemas.microsoft.com/office/drawing/2014/main" id="{4B279D75-6F98-198A-2F18-1DEBCB3E79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D5434D-2473-277E-93E5-8C129D664E39}"/>
              </a:ext>
            </a:extLst>
          </p:cNvPr>
          <p:cNvSpPr>
            <a:spLocks noGrp="1"/>
          </p:cNvSpPr>
          <p:nvPr>
            <p:ph type="sldNum" sz="quarter" idx="12"/>
          </p:nvPr>
        </p:nvSpPr>
        <p:spPr/>
        <p:txBody>
          <a:bodyPr/>
          <a:lstStyle/>
          <a:p>
            <a:fld id="{092BDBF0-A307-46FD-BD0E-40D50FDCAA7E}" type="slidenum">
              <a:rPr lang="en-US" smtClean="0"/>
              <a:t>‹#›</a:t>
            </a:fld>
            <a:endParaRPr lang="en-US"/>
          </a:p>
        </p:txBody>
      </p:sp>
    </p:spTree>
    <p:extLst>
      <p:ext uri="{BB962C8B-B14F-4D97-AF65-F5344CB8AC3E}">
        <p14:creationId xmlns:p14="http://schemas.microsoft.com/office/powerpoint/2010/main" val="99282902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892D8-5F4F-3C45-9640-4FE6ACEB422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4534EE-DC78-67C0-0316-901B56E4E91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B58A6F-DF7F-07F7-C5C2-CAE23F2665BC}"/>
              </a:ext>
            </a:extLst>
          </p:cNvPr>
          <p:cNvSpPr>
            <a:spLocks noGrp="1"/>
          </p:cNvSpPr>
          <p:nvPr>
            <p:ph type="dt" sz="half" idx="10"/>
          </p:nvPr>
        </p:nvSpPr>
        <p:spPr/>
        <p:txBody>
          <a:bodyPr/>
          <a:lstStyle/>
          <a:p>
            <a:fld id="{1A62620A-B9A1-4471-A07C-A69ABBD90298}" type="datetimeFigureOut">
              <a:rPr lang="en-US" smtClean="0"/>
              <a:t>4/13/2026</a:t>
            </a:fld>
            <a:endParaRPr lang="en-US"/>
          </a:p>
        </p:txBody>
      </p:sp>
      <p:sp>
        <p:nvSpPr>
          <p:cNvPr id="5" name="Footer Placeholder 4">
            <a:extLst>
              <a:ext uri="{FF2B5EF4-FFF2-40B4-BE49-F238E27FC236}">
                <a16:creationId xmlns:a16="http://schemas.microsoft.com/office/drawing/2014/main" id="{C133F413-67A0-9B3C-76D0-BAFE249697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794998-7B86-6C27-B8F5-16C78E394E9C}"/>
              </a:ext>
            </a:extLst>
          </p:cNvPr>
          <p:cNvSpPr>
            <a:spLocks noGrp="1"/>
          </p:cNvSpPr>
          <p:nvPr>
            <p:ph type="sldNum" sz="quarter" idx="12"/>
          </p:nvPr>
        </p:nvSpPr>
        <p:spPr/>
        <p:txBody>
          <a:bodyPr/>
          <a:lstStyle/>
          <a:p>
            <a:fld id="{092BDBF0-A307-46FD-BD0E-40D50FDCAA7E}" type="slidenum">
              <a:rPr lang="en-US" smtClean="0"/>
              <a:t>‹#›</a:t>
            </a:fld>
            <a:endParaRPr lang="en-US"/>
          </a:p>
        </p:txBody>
      </p:sp>
    </p:spTree>
    <p:extLst>
      <p:ext uri="{BB962C8B-B14F-4D97-AF65-F5344CB8AC3E}">
        <p14:creationId xmlns:p14="http://schemas.microsoft.com/office/powerpoint/2010/main" val="295723923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B6026-A5DC-9B1D-1ED2-C3D56118ECC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257A887-ABAF-7C26-067A-507E491BDFE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333E2E4-C292-EC8B-637C-856C47EB0EB4}"/>
              </a:ext>
            </a:extLst>
          </p:cNvPr>
          <p:cNvSpPr>
            <a:spLocks noGrp="1"/>
          </p:cNvSpPr>
          <p:nvPr>
            <p:ph type="dt" sz="half" idx="10"/>
          </p:nvPr>
        </p:nvSpPr>
        <p:spPr/>
        <p:txBody>
          <a:bodyPr/>
          <a:lstStyle/>
          <a:p>
            <a:fld id="{1A62620A-B9A1-4471-A07C-A69ABBD90298}" type="datetimeFigureOut">
              <a:rPr lang="en-US" smtClean="0"/>
              <a:t>4/13/2026</a:t>
            </a:fld>
            <a:endParaRPr lang="en-US"/>
          </a:p>
        </p:txBody>
      </p:sp>
      <p:sp>
        <p:nvSpPr>
          <p:cNvPr id="5" name="Footer Placeholder 4">
            <a:extLst>
              <a:ext uri="{FF2B5EF4-FFF2-40B4-BE49-F238E27FC236}">
                <a16:creationId xmlns:a16="http://schemas.microsoft.com/office/drawing/2014/main" id="{09A2810B-83BD-A885-67A6-5DEE8873BA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AB5486-8B36-9A5B-2487-1E6B9433355A}"/>
              </a:ext>
            </a:extLst>
          </p:cNvPr>
          <p:cNvSpPr>
            <a:spLocks noGrp="1"/>
          </p:cNvSpPr>
          <p:nvPr>
            <p:ph type="sldNum" sz="quarter" idx="12"/>
          </p:nvPr>
        </p:nvSpPr>
        <p:spPr/>
        <p:txBody>
          <a:bodyPr/>
          <a:lstStyle/>
          <a:p>
            <a:fld id="{092BDBF0-A307-46FD-BD0E-40D50FDCAA7E}" type="slidenum">
              <a:rPr lang="en-US" smtClean="0"/>
              <a:t>‹#›</a:t>
            </a:fld>
            <a:endParaRPr lang="en-US"/>
          </a:p>
        </p:txBody>
      </p:sp>
    </p:spTree>
    <p:extLst>
      <p:ext uri="{BB962C8B-B14F-4D97-AF65-F5344CB8AC3E}">
        <p14:creationId xmlns:p14="http://schemas.microsoft.com/office/powerpoint/2010/main" val="167739762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531FF-CFE2-D527-64EC-AF5FBCDD8FD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C102EAB-EFCC-C0F5-4FB6-646B0AF9D65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AFF3980-8C26-9B12-C4AC-C7A641FBFBC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6B26B09-2663-BFF1-3FDC-4AFA83098CD4}"/>
              </a:ext>
            </a:extLst>
          </p:cNvPr>
          <p:cNvSpPr>
            <a:spLocks noGrp="1"/>
          </p:cNvSpPr>
          <p:nvPr>
            <p:ph type="dt" sz="half" idx="10"/>
          </p:nvPr>
        </p:nvSpPr>
        <p:spPr/>
        <p:txBody>
          <a:bodyPr/>
          <a:lstStyle/>
          <a:p>
            <a:fld id="{1A62620A-B9A1-4471-A07C-A69ABBD90298}" type="datetimeFigureOut">
              <a:rPr lang="en-US" smtClean="0"/>
              <a:t>4/13/2026</a:t>
            </a:fld>
            <a:endParaRPr lang="en-US"/>
          </a:p>
        </p:txBody>
      </p:sp>
      <p:sp>
        <p:nvSpPr>
          <p:cNvPr id="6" name="Footer Placeholder 5">
            <a:extLst>
              <a:ext uri="{FF2B5EF4-FFF2-40B4-BE49-F238E27FC236}">
                <a16:creationId xmlns:a16="http://schemas.microsoft.com/office/drawing/2014/main" id="{7DC68217-178E-5D41-D721-13BDFAB462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AA117F-E249-2038-61AE-BC1CC0869A29}"/>
              </a:ext>
            </a:extLst>
          </p:cNvPr>
          <p:cNvSpPr>
            <a:spLocks noGrp="1"/>
          </p:cNvSpPr>
          <p:nvPr>
            <p:ph type="sldNum" sz="quarter" idx="12"/>
          </p:nvPr>
        </p:nvSpPr>
        <p:spPr/>
        <p:txBody>
          <a:bodyPr/>
          <a:lstStyle/>
          <a:p>
            <a:fld id="{092BDBF0-A307-46FD-BD0E-40D50FDCAA7E}" type="slidenum">
              <a:rPr lang="en-US" smtClean="0"/>
              <a:t>‹#›</a:t>
            </a:fld>
            <a:endParaRPr lang="en-US"/>
          </a:p>
        </p:txBody>
      </p:sp>
    </p:spTree>
    <p:extLst>
      <p:ext uri="{BB962C8B-B14F-4D97-AF65-F5344CB8AC3E}">
        <p14:creationId xmlns:p14="http://schemas.microsoft.com/office/powerpoint/2010/main" val="205195972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8B5A6-AC3A-92E8-8C0D-529FCC2BDFD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8613FD6-1571-F553-8675-EF97884F11F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74D3D47-84C6-B0AA-0F3C-8CA7EDE8DC1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F615623-3374-95DF-1230-673303A70C0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9E35BA2-6F91-C958-2FF4-5A604B88804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D030BE4-C5A0-1103-309F-BF0F274B2DF2}"/>
              </a:ext>
            </a:extLst>
          </p:cNvPr>
          <p:cNvSpPr>
            <a:spLocks noGrp="1"/>
          </p:cNvSpPr>
          <p:nvPr>
            <p:ph type="dt" sz="half" idx="10"/>
          </p:nvPr>
        </p:nvSpPr>
        <p:spPr/>
        <p:txBody>
          <a:bodyPr/>
          <a:lstStyle/>
          <a:p>
            <a:fld id="{1A62620A-B9A1-4471-A07C-A69ABBD90298}" type="datetimeFigureOut">
              <a:rPr lang="en-US" smtClean="0"/>
              <a:t>4/13/2026</a:t>
            </a:fld>
            <a:endParaRPr lang="en-US"/>
          </a:p>
        </p:txBody>
      </p:sp>
      <p:sp>
        <p:nvSpPr>
          <p:cNvPr id="8" name="Footer Placeholder 7">
            <a:extLst>
              <a:ext uri="{FF2B5EF4-FFF2-40B4-BE49-F238E27FC236}">
                <a16:creationId xmlns:a16="http://schemas.microsoft.com/office/drawing/2014/main" id="{29904DE8-AFDE-B405-62F5-5B35E9593B8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9BA8532-3B82-F32A-1A5A-DCD58F1C3B49}"/>
              </a:ext>
            </a:extLst>
          </p:cNvPr>
          <p:cNvSpPr>
            <a:spLocks noGrp="1"/>
          </p:cNvSpPr>
          <p:nvPr>
            <p:ph type="sldNum" sz="quarter" idx="12"/>
          </p:nvPr>
        </p:nvSpPr>
        <p:spPr/>
        <p:txBody>
          <a:bodyPr/>
          <a:lstStyle/>
          <a:p>
            <a:fld id="{092BDBF0-A307-46FD-BD0E-40D50FDCAA7E}" type="slidenum">
              <a:rPr lang="en-US" smtClean="0"/>
              <a:t>‹#›</a:t>
            </a:fld>
            <a:endParaRPr lang="en-US"/>
          </a:p>
        </p:txBody>
      </p:sp>
    </p:spTree>
    <p:extLst>
      <p:ext uri="{BB962C8B-B14F-4D97-AF65-F5344CB8AC3E}">
        <p14:creationId xmlns:p14="http://schemas.microsoft.com/office/powerpoint/2010/main" val="424662830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C5792-3164-C5BD-BE06-849DB419BCC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0457CDF-F120-5A3D-F78E-7EDADD6C85C1}"/>
              </a:ext>
            </a:extLst>
          </p:cNvPr>
          <p:cNvSpPr>
            <a:spLocks noGrp="1"/>
          </p:cNvSpPr>
          <p:nvPr>
            <p:ph type="dt" sz="half" idx="10"/>
          </p:nvPr>
        </p:nvSpPr>
        <p:spPr/>
        <p:txBody>
          <a:bodyPr/>
          <a:lstStyle/>
          <a:p>
            <a:fld id="{1A62620A-B9A1-4471-A07C-A69ABBD90298}" type="datetimeFigureOut">
              <a:rPr lang="en-US" smtClean="0"/>
              <a:t>4/13/2026</a:t>
            </a:fld>
            <a:endParaRPr lang="en-US"/>
          </a:p>
        </p:txBody>
      </p:sp>
      <p:sp>
        <p:nvSpPr>
          <p:cNvPr id="4" name="Footer Placeholder 3">
            <a:extLst>
              <a:ext uri="{FF2B5EF4-FFF2-40B4-BE49-F238E27FC236}">
                <a16:creationId xmlns:a16="http://schemas.microsoft.com/office/drawing/2014/main" id="{E66ABCD7-1236-455B-2AC2-7241217B020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71562CD-32AB-3C64-0359-D9662E88D453}"/>
              </a:ext>
            </a:extLst>
          </p:cNvPr>
          <p:cNvSpPr>
            <a:spLocks noGrp="1"/>
          </p:cNvSpPr>
          <p:nvPr>
            <p:ph type="sldNum" sz="quarter" idx="12"/>
          </p:nvPr>
        </p:nvSpPr>
        <p:spPr/>
        <p:txBody>
          <a:bodyPr/>
          <a:lstStyle/>
          <a:p>
            <a:fld id="{092BDBF0-A307-46FD-BD0E-40D50FDCAA7E}" type="slidenum">
              <a:rPr lang="en-US" smtClean="0"/>
              <a:t>‹#›</a:t>
            </a:fld>
            <a:endParaRPr lang="en-US"/>
          </a:p>
        </p:txBody>
      </p:sp>
    </p:spTree>
    <p:extLst>
      <p:ext uri="{BB962C8B-B14F-4D97-AF65-F5344CB8AC3E}">
        <p14:creationId xmlns:p14="http://schemas.microsoft.com/office/powerpoint/2010/main" val="271532096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8922AFC-C7B6-C3FC-EA9D-7AA5DD2F19B7}"/>
              </a:ext>
            </a:extLst>
          </p:cNvPr>
          <p:cNvSpPr>
            <a:spLocks noGrp="1"/>
          </p:cNvSpPr>
          <p:nvPr>
            <p:ph type="dt" sz="half" idx="10"/>
          </p:nvPr>
        </p:nvSpPr>
        <p:spPr/>
        <p:txBody>
          <a:bodyPr/>
          <a:lstStyle/>
          <a:p>
            <a:fld id="{1A62620A-B9A1-4471-A07C-A69ABBD90298}" type="datetimeFigureOut">
              <a:rPr lang="en-US" smtClean="0"/>
              <a:t>4/13/2026</a:t>
            </a:fld>
            <a:endParaRPr lang="en-US"/>
          </a:p>
        </p:txBody>
      </p:sp>
      <p:sp>
        <p:nvSpPr>
          <p:cNvPr id="3" name="Footer Placeholder 2">
            <a:extLst>
              <a:ext uri="{FF2B5EF4-FFF2-40B4-BE49-F238E27FC236}">
                <a16:creationId xmlns:a16="http://schemas.microsoft.com/office/drawing/2014/main" id="{EC8B831E-FCFB-D551-9DE6-CFFFDE638AC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F69545A-5F0B-FDD3-7C6D-4E189A2BB7AE}"/>
              </a:ext>
            </a:extLst>
          </p:cNvPr>
          <p:cNvSpPr>
            <a:spLocks noGrp="1"/>
          </p:cNvSpPr>
          <p:nvPr>
            <p:ph type="sldNum" sz="quarter" idx="12"/>
          </p:nvPr>
        </p:nvSpPr>
        <p:spPr/>
        <p:txBody>
          <a:bodyPr/>
          <a:lstStyle/>
          <a:p>
            <a:fld id="{092BDBF0-A307-46FD-BD0E-40D50FDCAA7E}" type="slidenum">
              <a:rPr lang="en-US" smtClean="0"/>
              <a:t>‹#›</a:t>
            </a:fld>
            <a:endParaRPr lang="en-US"/>
          </a:p>
        </p:txBody>
      </p:sp>
    </p:spTree>
    <p:extLst>
      <p:ext uri="{BB962C8B-B14F-4D97-AF65-F5344CB8AC3E}">
        <p14:creationId xmlns:p14="http://schemas.microsoft.com/office/powerpoint/2010/main" val="87282855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22125-0CC8-7F26-7FFF-0FAA19D134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15D4608-2047-4B9A-EDE3-5BCD07FC1E8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AE39455-67A6-3CAE-1DB2-B2572F417A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F77A96-7810-10E9-4B17-F45A0F34F736}"/>
              </a:ext>
            </a:extLst>
          </p:cNvPr>
          <p:cNvSpPr>
            <a:spLocks noGrp="1"/>
          </p:cNvSpPr>
          <p:nvPr>
            <p:ph type="dt" sz="half" idx="10"/>
          </p:nvPr>
        </p:nvSpPr>
        <p:spPr/>
        <p:txBody>
          <a:bodyPr/>
          <a:lstStyle/>
          <a:p>
            <a:fld id="{1A62620A-B9A1-4471-A07C-A69ABBD90298}" type="datetimeFigureOut">
              <a:rPr lang="en-US" smtClean="0"/>
              <a:t>4/13/2026</a:t>
            </a:fld>
            <a:endParaRPr lang="en-US"/>
          </a:p>
        </p:txBody>
      </p:sp>
      <p:sp>
        <p:nvSpPr>
          <p:cNvPr id="6" name="Footer Placeholder 5">
            <a:extLst>
              <a:ext uri="{FF2B5EF4-FFF2-40B4-BE49-F238E27FC236}">
                <a16:creationId xmlns:a16="http://schemas.microsoft.com/office/drawing/2014/main" id="{659EF262-D641-6ECF-60F2-0AC54D50FED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ED69EF9-40CE-9302-1880-1C0314CC6A72}"/>
              </a:ext>
            </a:extLst>
          </p:cNvPr>
          <p:cNvSpPr>
            <a:spLocks noGrp="1"/>
          </p:cNvSpPr>
          <p:nvPr>
            <p:ph type="sldNum" sz="quarter" idx="12"/>
          </p:nvPr>
        </p:nvSpPr>
        <p:spPr/>
        <p:txBody>
          <a:bodyPr/>
          <a:lstStyle/>
          <a:p>
            <a:fld id="{092BDBF0-A307-46FD-BD0E-40D50FDCAA7E}" type="slidenum">
              <a:rPr lang="en-US" smtClean="0"/>
              <a:t>‹#›</a:t>
            </a:fld>
            <a:endParaRPr lang="en-US"/>
          </a:p>
        </p:txBody>
      </p:sp>
    </p:spTree>
    <p:extLst>
      <p:ext uri="{BB962C8B-B14F-4D97-AF65-F5344CB8AC3E}">
        <p14:creationId xmlns:p14="http://schemas.microsoft.com/office/powerpoint/2010/main" val="175216806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6881F-2D25-FFB9-59EB-4D6C71E6EA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F3914E1-2573-8B03-C7FA-8932ADF6E5A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18903EC-5EE6-660C-BFD4-1B3F9006DB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C4EC37-6A16-18BD-2957-B7C062C635B3}"/>
              </a:ext>
            </a:extLst>
          </p:cNvPr>
          <p:cNvSpPr>
            <a:spLocks noGrp="1"/>
          </p:cNvSpPr>
          <p:nvPr>
            <p:ph type="dt" sz="half" idx="10"/>
          </p:nvPr>
        </p:nvSpPr>
        <p:spPr/>
        <p:txBody>
          <a:bodyPr/>
          <a:lstStyle/>
          <a:p>
            <a:fld id="{1A62620A-B9A1-4471-A07C-A69ABBD90298}" type="datetimeFigureOut">
              <a:rPr lang="en-US" smtClean="0"/>
              <a:t>4/13/2026</a:t>
            </a:fld>
            <a:endParaRPr lang="en-US"/>
          </a:p>
        </p:txBody>
      </p:sp>
      <p:sp>
        <p:nvSpPr>
          <p:cNvPr id="6" name="Footer Placeholder 5">
            <a:extLst>
              <a:ext uri="{FF2B5EF4-FFF2-40B4-BE49-F238E27FC236}">
                <a16:creationId xmlns:a16="http://schemas.microsoft.com/office/drawing/2014/main" id="{E34ABE1B-53B0-EA7F-7F12-8F3DF3B14E7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931516F-0442-25A4-30DB-6DD01F1662CF}"/>
              </a:ext>
            </a:extLst>
          </p:cNvPr>
          <p:cNvSpPr>
            <a:spLocks noGrp="1"/>
          </p:cNvSpPr>
          <p:nvPr>
            <p:ph type="sldNum" sz="quarter" idx="12"/>
          </p:nvPr>
        </p:nvSpPr>
        <p:spPr/>
        <p:txBody>
          <a:bodyPr/>
          <a:lstStyle/>
          <a:p>
            <a:fld id="{092BDBF0-A307-46FD-BD0E-40D50FDCAA7E}" type="slidenum">
              <a:rPr lang="en-US" smtClean="0"/>
              <a:t>‹#›</a:t>
            </a:fld>
            <a:endParaRPr lang="en-US"/>
          </a:p>
        </p:txBody>
      </p:sp>
    </p:spTree>
    <p:extLst>
      <p:ext uri="{BB962C8B-B14F-4D97-AF65-F5344CB8AC3E}">
        <p14:creationId xmlns:p14="http://schemas.microsoft.com/office/powerpoint/2010/main" val="401729802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9E55F-B68D-73B0-208E-2AE0ACC61E5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AB639A1-0D1E-68FD-6D3B-53EADFB493F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5691D6-AEFF-93F1-DE7B-9FA385419ADB}"/>
              </a:ext>
            </a:extLst>
          </p:cNvPr>
          <p:cNvSpPr>
            <a:spLocks noGrp="1"/>
          </p:cNvSpPr>
          <p:nvPr>
            <p:ph type="dt" sz="half" idx="10"/>
          </p:nvPr>
        </p:nvSpPr>
        <p:spPr/>
        <p:txBody>
          <a:bodyPr/>
          <a:lstStyle/>
          <a:p>
            <a:fld id="{1A62620A-B9A1-4471-A07C-A69ABBD90298}" type="datetimeFigureOut">
              <a:rPr lang="en-US" smtClean="0"/>
              <a:t>4/13/2026</a:t>
            </a:fld>
            <a:endParaRPr lang="en-US"/>
          </a:p>
        </p:txBody>
      </p:sp>
      <p:sp>
        <p:nvSpPr>
          <p:cNvPr id="5" name="Footer Placeholder 4">
            <a:extLst>
              <a:ext uri="{FF2B5EF4-FFF2-40B4-BE49-F238E27FC236}">
                <a16:creationId xmlns:a16="http://schemas.microsoft.com/office/drawing/2014/main" id="{FDF41A1B-B918-5A27-FA9A-95F0D728EF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EB6069-B486-06D9-FD37-0174EA86363F}"/>
              </a:ext>
            </a:extLst>
          </p:cNvPr>
          <p:cNvSpPr>
            <a:spLocks noGrp="1"/>
          </p:cNvSpPr>
          <p:nvPr>
            <p:ph type="sldNum" sz="quarter" idx="12"/>
          </p:nvPr>
        </p:nvSpPr>
        <p:spPr/>
        <p:txBody>
          <a:bodyPr/>
          <a:lstStyle/>
          <a:p>
            <a:fld id="{092BDBF0-A307-46FD-BD0E-40D50FDCAA7E}" type="slidenum">
              <a:rPr lang="en-US" smtClean="0"/>
              <a:t>‹#›</a:t>
            </a:fld>
            <a:endParaRPr lang="en-US"/>
          </a:p>
        </p:txBody>
      </p:sp>
    </p:spTree>
    <p:extLst>
      <p:ext uri="{BB962C8B-B14F-4D97-AF65-F5344CB8AC3E}">
        <p14:creationId xmlns:p14="http://schemas.microsoft.com/office/powerpoint/2010/main" val="239072746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3DCE0B9-5742-B56E-6AD1-24AFA4CBB9B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D060BBC-31A3-5B0D-72B0-54C3E72584E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6218B0-BC90-8125-7AB2-2119657F8E24}"/>
              </a:ext>
            </a:extLst>
          </p:cNvPr>
          <p:cNvSpPr>
            <a:spLocks noGrp="1"/>
          </p:cNvSpPr>
          <p:nvPr>
            <p:ph type="dt" sz="half" idx="10"/>
          </p:nvPr>
        </p:nvSpPr>
        <p:spPr/>
        <p:txBody>
          <a:bodyPr/>
          <a:lstStyle/>
          <a:p>
            <a:fld id="{1A62620A-B9A1-4471-A07C-A69ABBD90298}" type="datetimeFigureOut">
              <a:rPr lang="en-US" smtClean="0"/>
              <a:t>4/13/2026</a:t>
            </a:fld>
            <a:endParaRPr lang="en-US"/>
          </a:p>
        </p:txBody>
      </p:sp>
      <p:sp>
        <p:nvSpPr>
          <p:cNvPr id="5" name="Footer Placeholder 4">
            <a:extLst>
              <a:ext uri="{FF2B5EF4-FFF2-40B4-BE49-F238E27FC236}">
                <a16:creationId xmlns:a16="http://schemas.microsoft.com/office/drawing/2014/main" id="{36AC9CB8-597A-B816-D1B0-E9609F0CD2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CC6DE6-3166-C13D-ABA1-A71C5DE78757}"/>
              </a:ext>
            </a:extLst>
          </p:cNvPr>
          <p:cNvSpPr>
            <a:spLocks noGrp="1"/>
          </p:cNvSpPr>
          <p:nvPr>
            <p:ph type="sldNum" sz="quarter" idx="12"/>
          </p:nvPr>
        </p:nvSpPr>
        <p:spPr/>
        <p:txBody>
          <a:bodyPr/>
          <a:lstStyle/>
          <a:p>
            <a:fld id="{092BDBF0-A307-46FD-BD0E-40D50FDCAA7E}" type="slidenum">
              <a:rPr lang="en-US" smtClean="0"/>
              <a:t>‹#›</a:t>
            </a:fld>
            <a:endParaRPr lang="en-US"/>
          </a:p>
        </p:txBody>
      </p:sp>
    </p:spTree>
    <p:extLst>
      <p:ext uri="{BB962C8B-B14F-4D97-AF65-F5344CB8AC3E}">
        <p14:creationId xmlns:p14="http://schemas.microsoft.com/office/powerpoint/2010/main" val="42228197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theme" Target="../theme/theme2.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A62620A-B9A1-4471-A07C-A69ABBD90298}" type="datetimeFigureOut">
              <a:rPr lang="en-US" smtClean="0"/>
              <a:t>4/13/2026</a:t>
            </a:fld>
            <a:endParaRPr lang="en-US"/>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92BDBF0-A307-46FD-BD0E-40D50FDCAA7E}" type="slidenum">
              <a:rPr lang="en-US" smtClean="0"/>
              <a:t>‹#›</a:t>
            </a:fld>
            <a:endParaRPr lang="en-US"/>
          </a:p>
        </p:txBody>
      </p:sp>
    </p:spTree>
    <p:extLst>
      <p:ext uri="{BB962C8B-B14F-4D97-AF65-F5344CB8AC3E}">
        <p14:creationId xmlns:p14="http://schemas.microsoft.com/office/powerpoint/2010/main" val="2457946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AA4E41-3415-C34C-0494-58A96D35DE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6961F13-3FD2-BE39-45C3-D390DF7DAE5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603ABA-E48C-B87D-D36E-475790ED99A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A62620A-B9A1-4471-A07C-A69ABBD90298}" type="datetimeFigureOut">
              <a:rPr lang="en-US" smtClean="0"/>
              <a:t>4/13/2026</a:t>
            </a:fld>
            <a:endParaRPr lang="en-US"/>
          </a:p>
        </p:txBody>
      </p:sp>
      <p:sp>
        <p:nvSpPr>
          <p:cNvPr id="5" name="Footer Placeholder 4">
            <a:extLst>
              <a:ext uri="{FF2B5EF4-FFF2-40B4-BE49-F238E27FC236}">
                <a16:creationId xmlns:a16="http://schemas.microsoft.com/office/drawing/2014/main" id="{D0003AD4-19AD-33C8-AA96-998A3697F93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16EB277-5C19-8DD6-B40F-6D95495C705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92BDBF0-A307-46FD-BD0E-40D50FDCAA7E}" type="slidenum">
              <a:rPr lang="en-US" smtClean="0"/>
              <a:t>‹#›</a:t>
            </a:fld>
            <a:endParaRPr lang="en-US"/>
          </a:p>
        </p:txBody>
      </p:sp>
    </p:spTree>
    <p:extLst>
      <p:ext uri="{BB962C8B-B14F-4D97-AF65-F5344CB8AC3E}">
        <p14:creationId xmlns:p14="http://schemas.microsoft.com/office/powerpoint/2010/main" val="2922110353"/>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9.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aclanthology.org/W04-1013/" TargetMode="External"/><Relationship Id="rId2" Type="http://schemas.openxmlformats.org/officeDocument/2006/relationships/hyperlink" Target="https://aclanthology.org/W05-0909/"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F2378-117B-95F5-7702-F1E3A2B21734}"/>
              </a:ext>
            </a:extLst>
          </p:cNvPr>
          <p:cNvSpPr>
            <a:spLocks noGrp="1"/>
          </p:cNvSpPr>
          <p:nvPr>
            <p:ph type="ctrTitle"/>
          </p:nvPr>
        </p:nvSpPr>
        <p:spPr>
          <a:xfrm>
            <a:off x="2178627" y="1469880"/>
            <a:ext cx="9144000" cy="2387600"/>
          </a:xfrm>
        </p:spPr>
        <p:txBody>
          <a:bodyPr>
            <a:normAutofit fontScale="90000"/>
          </a:bodyPr>
          <a:lstStyle/>
          <a:p>
            <a:r>
              <a:rPr lang="en-US" dirty="0"/>
              <a:t>Fine-Tuning Musical Descriptions using a Large Audio-Language Model (LALM)</a:t>
            </a:r>
          </a:p>
        </p:txBody>
      </p:sp>
      <p:sp>
        <p:nvSpPr>
          <p:cNvPr id="3" name="Subtitle 2">
            <a:extLst>
              <a:ext uri="{FF2B5EF4-FFF2-40B4-BE49-F238E27FC236}">
                <a16:creationId xmlns:a16="http://schemas.microsoft.com/office/drawing/2014/main" id="{FC00BB95-9D6C-7730-0903-E9B14CD6CD26}"/>
              </a:ext>
            </a:extLst>
          </p:cNvPr>
          <p:cNvSpPr>
            <a:spLocks noGrp="1"/>
          </p:cNvSpPr>
          <p:nvPr>
            <p:ph type="subTitle" idx="1"/>
          </p:nvPr>
        </p:nvSpPr>
        <p:spPr>
          <a:xfrm>
            <a:off x="2178627" y="4038456"/>
            <a:ext cx="9144000" cy="1655762"/>
          </a:xfrm>
        </p:spPr>
        <p:txBody>
          <a:bodyPr/>
          <a:lstStyle/>
          <a:p>
            <a:r>
              <a:rPr lang="en-US" dirty="0"/>
              <a:t>Kailey MacFadyen</a:t>
            </a:r>
          </a:p>
        </p:txBody>
      </p:sp>
    </p:spTree>
    <p:extLst>
      <p:ext uri="{BB962C8B-B14F-4D97-AF65-F5344CB8AC3E}">
        <p14:creationId xmlns:p14="http://schemas.microsoft.com/office/powerpoint/2010/main" val="10055106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8545C-4F37-FA96-C508-C36B054C2046}"/>
              </a:ext>
            </a:extLst>
          </p:cNvPr>
          <p:cNvSpPr>
            <a:spLocks noGrp="1"/>
          </p:cNvSpPr>
          <p:nvPr>
            <p:ph type="title"/>
          </p:nvPr>
        </p:nvSpPr>
        <p:spPr>
          <a:xfrm>
            <a:off x="1484310" y="280554"/>
            <a:ext cx="10018713" cy="1752599"/>
          </a:xfrm>
        </p:spPr>
        <p:txBody>
          <a:bodyPr/>
          <a:lstStyle/>
          <a:p>
            <a:r>
              <a:rPr lang="en-US" dirty="0"/>
              <a:t>Problem Statement</a:t>
            </a:r>
          </a:p>
        </p:txBody>
      </p:sp>
      <p:sp>
        <p:nvSpPr>
          <p:cNvPr id="3" name="Content Placeholder 2">
            <a:extLst>
              <a:ext uri="{FF2B5EF4-FFF2-40B4-BE49-F238E27FC236}">
                <a16:creationId xmlns:a16="http://schemas.microsoft.com/office/drawing/2014/main" id="{75C8CF93-4EC4-7EA6-0128-7B92B1E45E3E}"/>
              </a:ext>
            </a:extLst>
          </p:cNvPr>
          <p:cNvSpPr>
            <a:spLocks noGrp="1"/>
          </p:cNvSpPr>
          <p:nvPr>
            <p:ph idx="1"/>
          </p:nvPr>
        </p:nvSpPr>
        <p:spPr>
          <a:xfrm>
            <a:off x="1484309" y="2355272"/>
            <a:ext cx="10018713" cy="3124201"/>
          </a:xfrm>
        </p:spPr>
        <p:txBody>
          <a:bodyPr/>
          <a:lstStyle/>
          <a:p>
            <a:r>
              <a:rPr lang="en-US" dirty="0"/>
              <a:t>Approximately 15% of American adults report having some degree of hearing loss</a:t>
            </a:r>
          </a:p>
          <a:p>
            <a:r>
              <a:rPr lang="en-US" dirty="0"/>
              <a:t>In movies and other stories, music is used to enhance the experience and understanding</a:t>
            </a:r>
          </a:p>
          <a:p>
            <a:r>
              <a:rPr lang="en-US" dirty="0"/>
              <a:t>Those hard-of-hearing or otherwise unable to listen to music can be at a disadvantage in these situations</a:t>
            </a:r>
          </a:p>
        </p:txBody>
      </p:sp>
    </p:spTree>
    <p:extLst>
      <p:ext uri="{BB962C8B-B14F-4D97-AF65-F5344CB8AC3E}">
        <p14:creationId xmlns:p14="http://schemas.microsoft.com/office/powerpoint/2010/main" val="3461959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1BDA1-A5CB-E1AA-F633-33FFD05C8319}"/>
              </a:ext>
            </a:extLst>
          </p:cNvPr>
          <p:cNvSpPr>
            <a:spLocks noGrp="1"/>
          </p:cNvSpPr>
          <p:nvPr>
            <p:ph type="title"/>
          </p:nvPr>
        </p:nvSpPr>
        <p:spPr>
          <a:xfrm>
            <a:off x="1335086" y="112029"/>
            <a:ext cx="10018713" cy="1752599"/>
          </a:xfrm>
        </p:spPr>
        <p:txBody>
          <a:bodyPr/>
          <a:lstStyle/>
          <a:p>
            <a:r>
              <a:rPr lang="en-US" dirty="0"/>
              <a:t>Solution</a:t>
            </a:r>
          </a:p>
        </p:txBody>
      </p:sp>
      <p:sp>
        <p:nvSpPr>
          <p:cNvPr id="3" name="Content Placeholder 2">
            <a:extLst>
              <a:ext uri="{FF2B5EF4-FFF2-40B4-BE49-F238E27FC236}">
                <a16:creationId xmlns:a16="http://schemas.microsoft.com/office/drawing/2014/main" id="{19D531A6-D9E2-B06D-1134-4FF3AB2A975F}"/>
              </a:ext>
            </a:extLst>
          </p:cNvPr>
          <p:cNvSpPr>
            <a:spLocks noGrp="1"/>
          </p:cNvSpPr>
          <p:nvPr>
            <p:ph idx="1"/>
          </p:nvPr>
        </p:nvSpPr>
        <p:spPr>
          <a:xfrm>
            <a:off x="1245031" y="1727263"/>
            <a:ext cx="6310511" cy="4351338"/>
          </a:xfrm>
        </p:spPr>
        <p:txBody>
          <a:bodyPr/>
          <a:lstStyle/>
          <a:p>
            <a:r>
              <a:rPr lang="en-US" dirty="0"/>
              <a:t>Fine-tune Qwen2-Audio-7B Large Audio-Language Model (LALM) to produce quality textual descriptions of music</a:t>
            </a:r>
          </a:p>
          <a:p>
            <a:r>
              <a:rPr lang="en-US" dirty="0"/>
              <a:t>LALMs work through integrating an audio processor/encoder in collaboration with an LLM architecture</a:t>
            </a:r>
          </a:p>
          <a:p>
            <a:r>
              <a:rPr lang="en-US" dirty="0"/>
              <a:t>Qwen2-Audio-7B is pre-trained on a variety of audio-related tasks</a:t>
            </a:r>
          </a:p>
        </p:txBody>
      </p:sp>
      <p:pic>
        <p:nvPicPr>
          <p:cNvPr id="5" name="Picture 4">
            <a:extLst>
              <a:ext uri="{FF2B5EF4-FFF2-40B4-BE49-F238E27FC236}">
                <a16:creationId xmlns:a16="http://schemas.microsoft.com/office/drawing/2014/main" id="{A3E26772-A6E9-C557-E2E6-5BA9A8A26A77}"/>
              </a:ext>
            </a:extLst>
          </p:cNvPr>
          <p:cNvPicPr>
            <a:picLocks noChangeAspect="1"/>
          </p:cNvPicPr>
          <p:nvPr/>
        </p:nvPicPr>
        <p:blipFill>
          <a:blip r:embed="rId2"/>
          <a:stretch>
            <a:fillRect/>
          </a:stretch>
        </p:blipFill>
        <p:spPr>
          <a:xfrm>
            <a:off x="7555542" y="2215556"/>
            <a:ext cx="4295141" cy="3374753"/>
          </a:xfrm>
          <a:prstGeom prst="rect">
            <a:avLst/>
          </a:prstGeom>
        </p:spPr>
      </p:pic>
      <p:sp>
        <p:nvSpPr>
          <p:cNvPr id="6" name="TextBox 5">
            <a:extLst>
              <a:ext uri="{FF2B5EF4-FFF2-40B4-BE49-F238E27FC236}">
                <a16:creationId xmlns:a16="http://schemas.microsoft.com/office/drawing/2014/main" id="{B40A502E-51C2-8234-8399-AE5634149449}"/>
              </a:ext>
            </a:extLst>
          </p:cNvPr>
          <p:cNvSpPr txBox="1"/>
          <p:nvPr/>
        </p:nvSpPr>
        <p:spPr>
          <a:xfrm>
            <a:off x="11102834" y="5590309"/>
            <a:ext cx="929840" cy="307777"/>
          </a:xfrm>
          <a:prstGeom prst="rect">
            <a:avLst/>
          </a:prstGeom>
          <a:noFill/>
        </p:spPr>
        <p:txBody>
          <a:bodyPr wrap="square" rtlCol="0">
            <a:spAutoFit/>
          </a:bodyPr>
          <a:lstStyle/>
          <a:p>
            <a:r>
              <a:rPr lang="en-US" sz="1400" dirty="0"/>
              <a:t>From [2]</a:t>
            </a:r>
          </a:p>
        </p:txBody>
      </p:sp>
    </p:spTree>
    <p:extLst>
      <p:ext uri="{BB962C8B-B14F-4D97-AF65-F5344CB8AC3E}">
        <p14:creationId xmlns:p14="http://schemas.microsoft.com/office/powerpoint/2010/main" val="27218498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EFC77-665B-DEAF-A751-4C67178E9D59}"/>
              </a:ext>
            </a:extLst>
          </p:cNvPr>
          <p:cNvSpPr>
            <a:spLocks noGrp="1"/>
          </p:cNvSpPr>
          <p:nvPr>
            <p:ph type="title"/>
          </p:nvPr>
        </p:nvSpPr>
        <p:spPr>
          <a:xfrm>
            <a:off x="1546657" y="0"/>
            <a:ext cx="10018713" cy="1752599"/>
          </a:xfrm>
        </p:spPr>
        <p:txBody>
          <a:bodyPr/>
          <a:lstStyle/>
          <a:p>
            <a:r>
              <a:rPr lang="en-US" dirty="0"/>
              <a:t>Low-Rank Adaptation (</a:t>
            </a:r>
            <a:r>
              <a:rPr lang="en-US" dirty="0" err="1"/>
              <a:t>LoRA</a:t>
            </a:r>
            <a:r>
              <a:rPr lang="en-US" dirty="0"/>
              <a:t>)</a:t>
            </a:r>
          </a:p>
        </p:txBody>
      </p:sp>
      <p:sp>
        <p:nvSpPr>
          <p:cNvPr id="3" name="Content Placeholder 2">
            <a:extLst>
              <a:ext uri="{FF2B5EF4-FFF2-40B4-BE49-F238E27FC236}">
                <a16:creationId xmlns:a16="http://schemas.microsoft.com/office/drawing/2014/main" id="{C3938E9B-6B7B-990D-9A30-96FA351EEA21}"/>
              </a:ext>
            </a:extLst>
          </p:cNvPr>
          <p:cNvSpPr>
            <a:spLocks noGrp="1"/>
          </p:cNvSpPr>
          <p:nvPr>
            <p:ph idx="1"/>
          </p:nvPr>
        </p:nvSpPr>
        <p:spPr>
          <a:xfrm>
            <a:off x="1298213" y="1545071"/>
            <a:ext cx="10267157" cy="1325563"/>
          </a:xfrm>
        </p:spPr>
        <p:txBody>
          <a:bodyPr>
            <a:noAutofit/>
          </a:bodyPr>
          <a:lstStyle/>
          <a:p>
            <a:r>
              <a:rPr lang="en-US" dirty="0"/>
              <a:t>Reduces memory usage and storage for fine-tuning large models by freezing pretrained weights W and tuning matrices A and B. Weights are adapted using W + BA</a:t>
            </a:r>
          </a:p>
        </p:txBody>
      </p:sp>
      <p:pic>
        <p:nvPicPr>
          <p:cNvPr id="5" name="Picture 4">
            <a:extLst>
              <a:ext uri="{FF2B5EF4-FFF2-40B4-BE49-F238E27FC236}">
                <a16:creationId xmlns:a16="http://schemas.microsoft.com/office/drawing/2014/main" id="{4B845338-B1F5-A284-CED8-C7ABE9C5D31B}"/>
              </a:ext>
            </a:extLst>
          </p:cNvPr>
          <p:cNvPicPr>
            <a:picLocks noChangeAspect="1"/>
          </p:cNvPicPr>
          <p:nvPr/>
        </p:nvPicPr>
        <p:blipFill>
          <a:blip r:embed="rId2"/>
          <a:stretch>
            <a:fillRect/>
          </a:stretch>
        </p:blipFill>
        <p:spPr>
          <a:xfrm>
            <a:off x="8005115" y="2870634"/>
            <a:ext cx="2888672" cy="2643407"/>
          </a:xfrm>
          <a:prstGeom prst="rect">
            <a:avLst/>
          </a:prstGeom>
        </p:spPr>
      </p:pic>
      <p:sp>
        <p:nvSpPr>
          <p:cNvPr id="6" name="TextBox 5">
            <a:extLst>
              <a:ext uri="{FF2B5EF4-FFF2-40B4-BE49-F238E27FC236}">
                <a16:creationId xmlns:a16="http://schemas.microsoft.com/office/drawing/2014/main" id="{1FE430DB-D576-E13F-4700-F69C691B0D72}"/>
              </a:ext>
            </a:extLst>
          </p:cNvPr>
          <p:cNvSpPr txBox="1"/>
          <p:nvPr/>
        </p:nvSpPr>
        <p:spPr>
          <a:xfrm>
            <a:off x="1298213" y="3446209"/>
            <a:ext cx="6196445" cy="1938992"/>
          </a:xfrm>
          <a:prstGeom prst="rect">
            <a:avLst/>
          </a:prstGeom>
          <a:noFill/>
        </p:spPr>
        <p:txBody>
          <a:bodyPr wrap="square" rtlCol="0">
            <a:spAutoFit/>
          </a:bodyPr>
          <a:lstStyle/>
          <a:p>
            <a:pPr marL="457200" indent="-457200">
              <a:buClr>
                <a:schemeClr val="accent1">
                  <a:lumMod val="75000"/>
                </a:schemeClr>
              </a:buClr>
              <a:buSzPct val="145000"/>
              <a:buFont typeface="Arial" panose="020B0604020202020204" pitchFamily="34" charset="0"/>
              <a:buChar char="•"/>
            </a:pPr>
            <a:r>
              <a:rPr lang="en-US" sz="2400" dirty="0"/>
              <a:t>Apply </a:t>
            </a:r>
            <a:r>
              <a:rPr lang="en-US" sz="2400" dirty="0" err="1"/>
              <a:t>LoRA</a:t>
            </a:r>
            <a:r>
              <a:rPr lang="en-US" sz="2400" dirty="0"/>
              <a:t> to </a:t>
            </a:r>
            <a:r>
              <a:rPr lang="en-US" sz="2400" dirty="0" err="1"/>
              <a:t>Wq</a:t>
            </a:r>
            <a:r>
              <a:rPr lang="en-US" sz="2400" dirty="0"/>
              <a:t> and Wv attention projections only to make fine-tuning possible in my limited memory environment: Trains only 0.0655% of the model parameters</a:t>
            </a:r>
          </a:p>
        </p:txBody>
      </p:sp>
      <p:sp>
        <p:nvSpPr>
          <p:cNvPr id="7" name="TextBox 6">
            <a:extLst>
              <a:ext uri="{FF2B5EF4-FFF2-40B4-BE49-F238E27FC236}">
                <a16:creationId xmlns:a16="http://schemas.microsoft.com/office/drawing/2014/main" id="{7081A497-455F-0BC8-5CD5-FDE548C25537}"/>
              </a:ext>
            </a:extLst>
          </p:cNvPr>
          <p:cNvSpPr txBox="1"/>
          <p:nvPr/>
        </p:nvSpPr>
        <p:spPr>
          <a:xfrm>
            <a:off x="10172699" y="5503990"/>
            <a:ext cx="831273" cy="307777"/>
          </a:xfrm>
          <a:prstGeom prst="rect">
            <a:avLst/>
          </a:prstGeom>
          <a:noFill/>
        </p:spPr>
        <p:txBody>
          <a:bodyPr wrap="square" rtlCol="0">
            <a:spAutoFit/>
          </a:bodyPr>
          <a:lstStyle/>
          <a:p>
            <a:r>
              <a:rPr lang="en-US" sz="1400" dirty="0"/>
              <a:t>From [3]</a:t>
            </a:r>
          </a:p>
        </p:txBody>
      </p:sp>
    </p:spTree>
    <p:extLst>
      <p:ext uri="{BB962C8B-B14F-4D97-AF65-F5344CB8AC3E}">
        <p14:creationId xmlns:p14="http://schemas.microsoft.com/office/powerpoint/2010/main" val="13445721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CF74C-D802-5F2F-AF1B-4B22E3FCF462}"/>
              </a:ext>
            </a:extLst>
          </p:cNvPr>
          <p:cNvSpPr>
            <a:spLocks noGrp="1"/>
          </p:cNvSpPr>
          <p:nvPr>
            <p:ph type="title"/>
          </p:nvPr>
        </p:nvSpPr>
        <p:spPr>
          <a:xfrm>
            <a:off x="1484310" y="190500"/>
            <a:ext cx="10018713" cy="1752599"/>
          </a:xfrm>
        </p:spPr>
        <p:txBody>
          <a:bodyPr/>
          <a:lstStyle/>
          <a:p>
            <a:r>
              <a:rPr lang="en-US" dirty="0" err="1"/>
              <a:t>MusicCaps</a:t>
            </a:r>
            <a:r>
              <a:rPr lang="en-US" dirty="0"/>
              <a:t> Dataset</a:t>
            </a:r>
          </a:p>
        </p:txBody>
      </p:sp>
      <p:sp>
        <p:nvSpPr>
          <p:cNvPr id="3" name="Content Placeholder 2">
            <a:extLst>
              <a:ext uri="{FF2B5EF4-FFF2-40B4-BE49-F238E27FC236}">
                <a16:creationId xmlns:a16="http://schemas.microsoft.com/office/drawing/2014/main" id="{5EAEC6CD-CC22-F0B4-5DAA-72F6AC40C7CB}"/>
              </a:ext>
            </a:extLst>
          </p:cNvPr>
          <p:cNvSpPr>
            <a:spLocks noGrp="1"/>
          </p:cNvSpPr>
          <p:nvPr>
            <p:ph idx="1"/>
          </p:nvPr>
        </p:nvSpPr>
        <p:spPr>
          <a:xfrm>
            <a:off x="1484310" y="1797627"/>
            <a:ext cx="10018713" cy="4353791"/>
          </a:xfrm>
        </p:spPr>
        <p:txBody>
          <a:bodyPr>
            <a:noAutofit/>
          </a:bodyPr>
          <a:lstStyle/>
          <a:p>
            <a:r>
              <a:rPr lang="en-US" dirty="0"/>
              <a:t>Originally contains 5521 ten second music audio to human description pairs</a:t>
            </a:r>
          </a:p>
          <a:p>
            <a:r>
              <a:rPr lang="en-US" dirty="0"/>
              <a:t>When downloaded, a total of 4204 audio files were downloadable from YouTube while the rest were unavailable due to copyright, private videos, etc.</a:t>
            </a:r>
          </a:p>
          <a:p>
            <a:r>
              <a:rPr lang="en-US" dirty="0"/>
              <a:t>Data was split 70/15/15 into Training, validation, and testing set with end sizes of 2942, 631, and 631, respectively</a:t>
            </a:r>
          </a:p>
          <a:p>
            <a:r>
              <a:rPr lang="en-US" dirty="0"/>
              <a:t>A prompt was added to the beginning of the descriptions: “&lt;|</a:t>
            </a:r>
            <a:r>
              <a:rPr lang="en-US" dirty="0" err="1"/>
              <a:t>audio_bos</a:t>
            </a:r>
            <a:r>
              <a:rPr lang="en-US" dirty="0"/>
              <a:t>|&gt;&lt;|AUDIO|&gt;&lt;|</a:t>
            </a:r>
            <a:r>
              <a:rPr lang="en-US" dirty="0" err="1"/>
              <a:t>audio_eos</a:t>
            </a:r>
            <a:r>
              <a:rPr lang="en-US" dirty="0"/>
              <a:t>|&gt;Describe the music thoroughly:” to guide the task for generation</a:t>
            </a:r>
          </a:p>
        </p:txBody>
      </p:sp>
    </p:spTree>
    <p:extLst>
      <p:ext uri="{BB962C8B-B14F-4D97-AF65-F5344CB8AC3E}">
        <p14:creationId xmlns:p14="http://schemas.microsoft.com/office/powerpoint/2010/main" val="536716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4E7C8-421D-A4F9-FDE8-47A4481865CB}"/>
              </a:ext>
            </a:extLst>
          </p:cNvPr>
          <p:cNvSpPr>
            <a:spLocks noGrp="1"/>
          </p:cNvSpPr>
          <p:nvPr>
            <p:ph type="title"/>
          </p:nvPr>
        </p:nvSpPr>
        <p:spPr>
          <a:xfrm>
            <a:off x="1484310" y="190500"/>
            <a:ext cx="10018713" cy="1752599"/>
          </a:xfrm>
        </p:spPr>
        <p:txBody>
          <a:bodyPr/>
          <a:lstStyle/>
          <a:p>
            <a:r>
              <a:rPr lang="en-US" dirty="0"/>
              <a:t>Metrics for Text Output</a:t>
            </a:r>
          </a:p>
        </p:txBody>
      </p:sp>
      <p:sp>
        <p:nvSpPr>
          <p:cNvPr id="3" name="Content Placeholder 2">
            <a:extLst>
              <a:ext uri="{FF2B5EF4-FFF2-40B4-BE49-F238E27FC236}">
                <a16:creationId xmlns:a16="http://schemas.microsoft.com/office/drawing/2014/main" id="{D1116981-C943-E9BC-C625-B7C7418F35BB}"/>
              </a:ext>
            </a:extLst>
          </p:cNvPr>
          <p:cNvSpPr>
            <a:spLocks noGrp="1"/>
          </p:cNvSpPr>
          <p:nvPr>
            <p:ph idx="1"/>
          </p:nvPr>
        </p:nvSpPr>
        <p:spPr>
          <a:xfrm>
            <a:off x="1484310" y="1589809"/>
            <a:ext cx="10018713" cy="4436918"/>
          </a:xfrm>
        </p:spPr>
        <p:txBody>
          <a:bodyPr>
            <a:noAutofit/>
          </a:bodyPr>
          <a:lstStyle/>
          <a:p>
            <a:r>
              <a:rPr lang="en-US" dirty="0"/>
              <a:t>BLEU – modified n-gram precision</a:t>
            </a:r>
          </a:p>
          <a:p>
            <a:r>
              <a:rPr lang="en-US" dirty="0"/>
              <a:t>METEOR – improvement of BLEU using alignment of unigrams and synonym/paraphrase tables, combines precision and recall</a:t>
            </a:r>
          </a:p>
          <a:p>
            <a:r>
              <a:rPr lang="en-US" dirty="0"/>
              <a:t>ROUGE – Recall-Oriented Understudy of </a:t>
            </a:r>
            <a:r>
              <a:rPr lang="en-US" dirty="0" err="1"/>
              <a:t>Gisting</a:t>
            </a:r>
            <a:r>
              <a:rPr lang="en-US" dirty="0"/>
              <a:t> Evaluation</a:t>
            </a:r>
          </a:p>
          <a:p>
            <a:pPr lvl="1"/>
            <a:r>
              <a:rPr lang="en-US" dirty="0"/>
              <a:t>ROUGE-1: unigram recall</a:t>
            </a:r>
          </a:p>
          <a:p>
            <a:pPr lvl="1"/>
            <a:r>
              <a:rPr lang="en-US" dirty="0"/>
              <a:t>ROUGE-2: bigram recall</a:t>
            </a:r>
          </a:p>
          <a:p>
            <a:pPr lvl="1"/>
            <a:r>
              <a:rPr lang="en-US" dirty="0"/>
              <a:t>ROUGE-L: Longest Common Subsequence</a:t>
            </a:r>
          </a:p>
          <a:p>
            <a:r>
              <a:rPr lang="en-US" dirty="0"/>
              <a:t>BERT-Score – token similarity scores from BERT model embeddings, Includes Precision, Recall, and F1 scores</a:t>
            </a:r>
          </a:p>
        </p:txBody>
      </p:sp>
    </p:spTree>
    <p:extLst>
      <p:ext uri="{BB962C8B-B14F-4D97-AF65-F5344CB8AC3E}">
        <p14:creationId xmlns:p14="http://schemas.microsoft.com/office/powerpoint/2010/main" val="35107200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9F9AB-E23D-0635-5661-0489D9041335}"/>
              </a:ext>
            </a:extLst>
          </p:cNvPr>
          <p:cNvSpPr>
            <a:spLocks noGrp="1"/>
          </p:cNvSpPr>
          <p:nvPr>
            <p:ph type="title"/>
          </p:nvPr>
        </p:nvSpPr>
        <p:spPr>
          <a:xfrm>
            <a:off x="838200" y="79065"/>
            <a:ext cx="10515600" cy="989269"/>
          </a:xfrm>
        </p:spPr>
        <p:txBody>
          <a:bodyPr/>
          <a:lstStyle/>
          <a:p>
            <a:pPr algn="ctr"/>
            <a:r>
              <a:rPr lang="en-US" dirty="0"/>
              <a:t>Results</a:t>
            </a:r>
          </a:p>
        </p:txBody>
      </p:sp>
      <p:pic>
        <p:nvPicPr>
          <p:cNvPr id="5" name="Picture 4">
            <a:extLst>
              <a:ext uri="{FF2B5EF4-FFF2-40B4-BE49-F238E27FC236}">
                <a16:creationId xmlns:a16="http://schemas.microsoft.com/office/drawing/2014/main" id="{88D02927-47EF-38BD-9A94-825F124401D3}"/>
              </a:ext>
            </a:extLst>
          </p:cNvPr>
          <p:cNvPicPr>
            <a:picLocks noChangeAspect="1"/>
          </p:cNvPicPr>
          <p:nvPr/>
        </p:nvPicPr>
        <p:blipFill>
          <a:blip r:embed="rId3"/>
          <a:stretch>
            <a:fillRect/>
          </a:stretch>
        </p:blipFill>
        <p:spPr>
          <a:xfrm>
            <a:off x="749220" y="4597424"/>
            <a:ext cx="4550509" cy="2260576"/>
          </a:xfrm>
          <a:prstGeom prst="rect">
            <a:avLst/>
          </a:prstGeom>
        </p:spPr>
      </p:pic>
      <p:sp>
        <p:nvSpPr>
          <p:cNvPr id="6" name="TextBox 5">
            <a:extLst>
              <a:ext uri="{FF2B5EF4-FFF2-40B4-BE49-F238E27FC236}">
                <a16:creationId xmlns:a16="http://schemas.microsoft.com/office/drawing/2014/main" id="{DC6451A6-D09A-6E9D-542E-DDCCBA007B56}"/>
              </a:ext>
            </a:extLst>
          </p:cNvPr>
          <p:cNvSpPr txBox="1"/>
          <p:nvPr/>
        </p:nvSpPr>
        <p:spPr>
          <a:xfrm>
            <a:off x="777120" y="2141182"/>
            <a:ext cx="4415047" cy="523220"/>
          </a:xfrm>
          <a:prstGeom prst="rect">
            <a:avLst/>
          </a:prstGeom>
          <a:noFill/>
        </p:spPr>
        <p:txBody>
          <a:bodyPr wrap="square" rtlCol="0">
            <a:spAutoFit/>
          </a:bodyPr>
          <a:lstStyle/>
          <a:p>
            <a:r>
              <a:rPr lang="en-US" sz="2800" dirty="0"/>
              <a:t>Before Fine Tuning:</a:t>
            </a:r>
          </a:p>
        </p:txBody>
      </p:sp>
      <p:sp>
        <p:nvSpPr>
          <p:cNvPr id="9" name="TextBox 8">
            <a:extLst>
              <a:ext uri="{FF2B5EF4-FFF2-40B4-BE49-F238E27FC236}">
                <a16:creationId xmlns:a16="http://schemas.microsoft.com/office/drawing/2014/main" id="{64615123-E4CA-46EE-C89D-A73B825CF99A}"/>
              </a:ext>
            </a:extLst>
          </p:cNvPr>
          <p:cNvSpPr txBox="1"/>
          <p:nvPr/>
        </p:nvSpPr>
        <p:spPr>
          <a:xfrm>
            <a:off x="6375270" y="2141182"/>
            <a:ext cx="4588991" cy="523220"/>
          </a:xfrm>
          <a:prstGeom prst="rect">
            <a:avLst/>
          </a:prstGeom>
          <a:noFill/>
        </p:spPr>
        <p:txBody>
          <a:bodyPr wrap="square" rtlCol="0">
            <a:spAutoFit/>
          </a:bodyPr>
          <a:lstStyle/>
          <a:p>
            <a:r>
              <a:rPr lang="en-US" sz="2800" dirty="0"/>
              <a:t>After Fine Tuning:</a:t>
            </a:r>
          </a:p>
        </p:txBody>
      </p:sp>
      <p:sp>
        <p:nvSpPr>
          <p:cNvPr id="10" name="TextBox 9">
            <a:extLst>
              <a:ext uri="{FF2B5EF4-FFF2-40B4-BE49-F238E27FC236}">
                <a16:creationId xmlns:a16="http://schemas.microsoft.com/office/drawing/2014/main" id="{F17F98E5-E34B-E7A3-D81B-FF90655FA892}"/>
              </a:ext>
            </a:extLst>
          </p:cNvPr>
          <p:cNvSpPr txBox="1"/>
          <p:nvPr/>
        </p:nvSpPr>
        <p:spPr>
          <a:xfrm>
            <a:off x="749220" y="2664402"/>
            <a:ext cx="5151032" cy="2246769"/>
          </a:xfrm>
          <a:prstGeom prst="rect">
            <a:avLst/>
          </a:prstGeom>
          <a:noFill/>
        </p:spPr>
        <p:txBody>
          <a:bodyPr wrap="square" rtlCol="0">
            <a:spAutoFit/>
          </a:bodyPr>
          <a:lstStyle/>
          <a:p>
            <a:r>
              <a:rPr lang="en-US" sz="2000" dirty="0"/>
              <a:t>PRED: This is an electronic dance track. There are synth drums playing a four on the floor pattern with a high tempo. The bass line is very prominent and there is a melodic lead that sounds like it could be played in a trance song. This song can be played at nightclubs.</a:t>
            </a:r>
            <a:br>
              <a:rPr lang="en-US" sz="2000" dirty="0"/>
            </a:br>
            <a:endParaRPr lang="en-US" sz="2000" dirty="0"/>
          </a:p>
        </p:txBody>
      </p:sp>
      <p:sp>
        <p:nvSpPr>
          <p:cNvPr id="12" name="TextBox 11">
            <a:extLst>
              <a:ext uri="{FF2B5EF4-FFF2-40B4-BE49-F238E27FC236}">
                <a16:creationId xmlns:a16="http://schemas.microsoft.com/office/drawing/2014/main" id="{948D17F5-C2B1-061E-036D-B5FE917B985C}"/>
              </a:ext>
            </a:extLst>
          </p:cNvPr>
          <p:cNvSpPr txBox="1"/>
          <p:nvPr/>
        </p:nvSpPr>
        <p:spPr>
          <a:xfrm>
            <a:off x="651163" y="1068334"/>
            <a:ext cx="11336481" cy="1015663"/>
          </a:xfrm>
          <a:prstGeom prst="rect">
            <a:avLst/>
          </a:prstGeom>
          <a:noFill/>
        </p:spPr>
        <p:txBody>
          <a:bodyPr wrap="square">
            <a:spAutoFit/>
          </a:bodyPr>
          <a:lstStyle/>
          <a:p>
            <a:r>
              <a:rPr lang="en-US" sz="2000" dirty="0"/>
              <a:t>REF : The low quality recording features an electro song that consists of a typical punchy "4 on the floor" kick pattern, wide and mellow synth pad chords and synth lead melody with wide echoing effects on. It sounds energetic and like a song from the early 00s.</a:t>
            </a:r>
          </a:p>
        </p:txBody>
      </p:sp>
      <p:sp>
        <p:nvSpPr>
          <p:cNvPr id="20" name="TextBox 19">
            <a:extLst>
              <a:ext uri="{FF2B5EF4-FFF2-40B4-BE49-F238E27FC236}">
                <a16:creationId xmlns:a16="http://schemas.microsoft.com/office/drawing/2014/main" id="{AA622C89-42DF-F6D3-929D-146CED6B4657}"/>
              </a:ext>
            </a:extLst>
          </p:cNvPr>
          <p:cNvSpPr txBox="1"/>
          <p:nvPr/>
        </p:nvSpPr>
        <p:spPr>
          <a:xfrm>
            <a:off x="6291751" y="2657042"/>
            <a:ext cx="5772094" cy="1938992"/>
          </a:xfrm>
          <a:prstGeom prst="rect">
            <a:avLst/>
          </a:prstGeom>
          <a:noFill/>
        </p:spPr>
        <p:txBody>
          <a:bodyPr wrap="square" rtlCol="0">
            <a:spAutoFit/>
          </a:bodyPr>
          <a:lstStyle/>
          <a:p>
            <a:r>
              <a:rPr lang="en-US" sz="2000" dirty="0"/>
              <a:t>PRED: The low quality recording features a techno song that consists of wide synth lead melody, groovy synth bass and "4 on the floor" kick pattern. It sounds energetic and like something you would hear in nightclubs. The recording is noisy and in mono.</a:t>
            </a:r>
          </a:p>
        </p:txBody>
      </p:sp>
      <p:pic>
        <p:nvPicPr>
          <p:cNvPr id="4" name="Picture 3">
            <a:extLst>
              <a:ext uri="{FF2B5EF4-FFF2-40B4-BE49-F238E27FC236}">
                <a16:creationId xmlns:a16="http://schemas.microsoft.com/office/drawing/2014/main" id="{A440A178-3BB9-7003-0A7A-C0D39A762FC1}"/>
              </a:ext>
            </a:extLst>
          </p:cNvPr>
          <p:cNvPicPr>
            <a:picLocks noChangeAspect="1"/>
          </p:cNvPicPr>
          <p:nvPr/>
        </p:nvPicPr>
        <p:blipFill>
          <a:blip r:embed="rId4"/>
          <a:stretch>
            <a:fillRect/>
          </a:stretch>
        </p:blipFill>
        <p:spPr>
          <a:xfrm>
            <a:off x="6764809" y="4601619"/>
            <a:ext cx="4588991" cy="2256381"/>
          </a:xfrm>
          <a:prstGeom prst="rect">
            <a:avLst/>
          </a:prstGeom>
        </p:spPr>
      </p:pic>
    </p:spTree>
    <p:extLst>
      <p:ext uri="{BB962C8B-B14F-4D97-AF65-F5344CB8AC3E}">
        <p14:creationId xmlns:p14="http://schemas.microsoft.com/office/powerpoint/2010/main" val="23035861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D58AC-008B-FCCE-4FEA-E7F18FB1316A}"/>
              </a:ext>
            </a:extLst>
          </p:cNvPr>
          <p:cNvSpPr>
            <a:spLocks noGrp="1"/>
          </p:cNvSpPr>
          <p:nvPr>
            <p:ph type="title"/>
          </p:nvPr>
        </p:nvSpPr>
        <p:spPr>
          <a:xfrm>
            <a:off x="838200" y="240435"/>
            <a:ext cx="10515600" cy="1172730"/>
          </a:xfrm>
        </p:spPr>
        <p:txBody>
          <a:bodyPr/>
          <a:lstStyle/>
          <a:p>
            <a:r>
              <a:rPr lang="en-US" dirty="0"/>
              <a:t>Demonstration and Comparison</a:t>
            </a:r>
          </a:p>
        </p:txBody>
      </p:sp>
      <p:sp>
        <p:nvSpPr>
          <p:cNvPr id="9" name="Content Placeholder 8">
            <a:extLst>
              <a:ext uri="{FF2B5EF4-FFF2-40B4-BE49-F238E27FC236}">
                <a16:creationId xmlns:a16="http://schemas.microsoft.com/office/drawing/2014/main" id="{88551B67-9768-A42B-2439-99707EA39766}"/>
              </a:ext>
            </a:extLst>
          </p:cNvPr>
          <p:cNvSpPr>
            <a:spLocks noGrp="1"/>
          </p:cNvSpPr>
          <p:nvPr>
            <p:ph idx="1"/>
          </p:nvPr>
        </p:nvSpPr>
        <p:spPr>
          <a:xfrm>
            <a:off x="1049643" y="2436379"/>
            <a:ext cx="5046357" cy="3018848"/>
          </a:xfrm>
        </p:spPr>
        <p:txBody>
          <a:bodyPr/>
          <a:lstStyle/>
          <a:p>
            <a:r>
              <a:rPr lang="en-US" dirty="0"/>
              <a:t>Compared to other music description models, our model had similar scores for n-gram metrics (BLEU, ROUGE, METEOR) but lower scores for semantic similarity (BERT-Score)</a:t>
            </a:r>
          </a:p>
        </p:txBody>
      </p:sp>
      <p:pic>
        <p:nvPicPr>
          <p:cNvPr id="3" name="Picture 2">
            <a:extLst>
              <a:ext uri="{FF2B5EF4-FFF2-40B4-BE49-F238E27FC236}">
                <a16:creationId xmlns:a16="http://schemas.microsoft.com/office/drawing/2014/main" id="{F5835FC2-AC7F-EEB3-05C0-F9BACE4312DF}"/>
              </a:ext>
            </a:extLst>
          </p:cNvPr>
          <p:cNvPicPr>
            <a:picLocks noChangeAspect="1"/>
          </p:cNvPicPr>
          <p:nvPr/>
        </p:nvPicPr>
        <p:blipFill>
          <a:blip r:embed="rId3"/>
          <a:stretch>
            <a:fillRect/>
          </a:stretch>
        </p:blipFill>
        <p:spPr>
          <a:xfrm>
            <a:off x="6248400" y="1179195"/>
            <a:ext cx="5943600" cy="5678805"/>
          </a:xfrm>
          <a:prstGeom prst="rect">
            <a:avLst/>
          </a:prstGeom>
        </p:spPr>
      </p:pic>
    </p:spTree>
    <p:extLst>
      <p:ext uri="{BB962C8B-B14F-4D97-AF65-F5344CB8AC3E}">
        <p14:creationId xmlns:p14="http://schemas.microsoft.com/office/powerpoint/2010/main" val="29196701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5A228-815B-40C1-3E08-9D6A2A589F8A}"/>
              </a:ext>
            </a:extLst>
          </p:cNvPr>
          <p:cNvSpPr>
            <a:spLocks noGrp="1"/>
          </p:cNvSpPr>
          <p:nvPr>
            <p:ph type="title"/>
          </p:nvPr>
        </p:nvSpPr>
        <p:spPr>
          <a:xfrm>
            <a:off x="1484310" y="190500"/>
            <a:ext cx="10018713" cy="1752599"/>
          </a:xfrm>
        </p:spPr>
        <p:txBody>
          <a:bodyPr/>
          <a:lstStyle/>
          <a:p>
            <a:r>
              <a:rPr lang="en-US" dirty="0"/>
              <a:t>What I Learned</a:t>
            </a:r>
          </a:p>
        </p:txBody>
      </p:sp>
      <p:sp>
        <p:nvSpPr>
          <p:cNvPr id="3" name="Content Placeholder 2">
            <a:extLst>
              <a:ext uri="{FF2B5EF4-FFF2-40B4-BE49-F238E27FC236}">
                <a16:creationId xmlns:a16="http://schemas.microsoft.com/office/drawing/2014/main" id="{3362ACC5-8524-A279-8F1A-9D4F60CEDC97}"/>
              </a:ext>
            </a:extLst>
          </p:cNvPr>
          <p:cNvSpPr>
            <a:spLocks noGrp="1"/>
          </p:cNvSpPr>
          <p:nvPr>
            <p:ph idx="1"/>
          </p:nvPr>
        </p:nvSpPr>
        <p:spPr>
          <a:xfrm>
            <a:off x="1484310" y="2074717"/>
            <a:ext cx="10018713" cy="3920838"/>
          </a:xfrm>
        </p:spPr>
        <p:txBody>
          <a:bodyPr>
            <a:normAutofit/>
          </a:bodyPr>
          <a:lstStyle/>
          <a:p>
            <a:r>
              <a:rPr lang="en-US" dirty="0"/>
              <a:t>How LALMs process both audio and text to formulate responses</a:t>
            </a:r>
          </a:p>
          <a:p>
            <a:r>
              <a:rPr lang="en-US" dirty="0"/>
              <a:t>How to fine-tune large models using limited memory and computation resources using </a:t>
            </a:r>
            <a:r>
              <a:rPr lang="en-US" dirty="0" err="1"/>
              <a:t>LoRA</a:t>
            </a:r>
            <a:endParaRPr lang="en-US" dirty="0"/>
          </a:p>
          <a:p>
            <a:r>
              <a:rPr lang="en-US" dirty="0"/>
              <a:t>How to evaluate the quality of text responses of a description, summarization, or translation task using different metrics</a:t>
            </a:r>
          </a:p>
          <a:p>
            <a:r>
              <a:rPr lang="en-US" dirty="0"/>
              <a:t>How to create a custom data collator to pad batches to the same size</a:t>
            </a:r>
          </a:p>
          <a:p>
            <a:r>
              <a:rPr lang="en-US" dirty="0"/>
              <a:t>How to upload tuned models to </a:t>
            </a:r>
            <a:r>
              <a:rPr lang="en-US" dirty="0" err="1"/>
              <a:t>HuggingFace</a:t>
            </a:r>
            <a:r>
              <a:rPr lang="en-US" dirty="0"/>
              <a:t> so they can be loaded by others</a:t>
            </a:r>
          </a:p>
        </p:txBody>
      </p:sp>
    </p:spTree>
    <p:extLst>
      <p:ext uri="{BB962C8B-B14F-4D97-AF65-F5344CB8AC3E}">
        <p14:creationId xmlns:p14="http://schemas.microsoft.com/office/powerpoint/2010/main" val="37268081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CD864-3BE5-6076-D250-3096EE1B065C}"/>
              </a:ext>
            </a:extLst>
          </p:cNvPr>
          <p:cNvSpPr>
            <a:spLocks noGrp="1"/>
          </p:cNvSpPr>
          <p:nvPr>
            <p:ph type="title"/>
          </p:nvPr>
        </p:nvSpPr>
        <p:spPr>
          <a:xfrm>
            <a:off x="1463529" y="-10391"/>
            <a:ext cx="10018713" cy="1714500"/>
          </a:xfrm>
        </p:spPr>
        <p:txBody>
          <a:bodyPr/>
          <a:lstStyle/>
          <a:p>
            <a:r>
              <a:rPr lang="en-US" dirty="0"/>
              <a:t>Limitations and Future Work</a:t>
            </a:r>
          </a:p>
        </p:txBody>
      </p:sp>
      <p:sp>
        <p:nvSpPr>
          <p:cNvPr id="3" name="Content Placeholder 2">
            <a:extLst>
              <a:ext uri="{FF2B5EF4-FFF2-40B4-BE49-F238E27FC236}">
                <a16:creationId xmlns:a16="http://schemas.microsoft.com/office/drawing/2014/main" id="{417ACEC4-E2B9-A0F1-69D1-2B19FBA01C8F}"/>
              </a:ext>
            </a:extLst>
          </p:cNvPr>
          <p:cNvSpPr>
            <a:spLocks noGrp="1"/>
          </p:cNvSpPr>
          <p:nvPr>
            <p:ph idx="1"/>
          </p:nvPr>
        </p:nvSpPr>
        <p:spPr>
          <a:xfrm>
            <a:off x="1463529" y="1641764"/>
            <a:ext cx="10515600" cy="5053012"/>
          </a:xfrm>
        </p:spPr>
        <p:txBody>
          <a:bodyPr>
            <a:normAutofit/>
          </a:bodyPr>
          <a:lstStyle/>
          <a:p>
            <a:r>
              <a:rPr lang="en-US" dirty="0"/>
              <a:t>Limited by computation power, memory, and time: Unable to explore a larger dataset or more intensive fine-tuning</a:t>
            </a:r>
          </a:p>
          <a:p>
            <a:r>
              <a:rPr lang="en-US" dirty="0"/>
              <a:t>All evaluations were done on the same dataset. Using a separate dataset for additional testing can be more robust testing of quality</a:t>
            </a:r>
          </a:p>
          <a:p>
            <a:r>
              <a:rPr lang="en-US" dirty="0"/>
              <a:t>The interactable interface is base-level and memory intensive – to make direct comparisons, both the base and tuned model must be loaded. A more developed app that uses API calls to a server to reduce local memory usage would be more accessible</a:t>
            </a:r>
          </a:p>
          <a:p>
            <a:r>
              <a:rPr lang="en-US" dirty="0"/>
              <a:t>Expand to have different categories of descriptions to chose from like emotional(explain how it makes you feel) or technical (explain chord progression, instrumentation, etc.)</a:t>
            </a:r>
          </a:p>
          <a:p>
            <a:endParaRPr lang="en-US" dirty="0"/>
          </a:p>
        </p:txBody>
      </p:sp>
    </p:spTree>
    <p:extLst>
      <p:ext uri="{BB962C8B-B14F-4D97-AF65-F5344CB8AC3E}">
        <p14:creationId xmlns:p14="http://schemas.microsoft.com/office/powerpoint/2010/main" val="37996008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62A74-76FB-1B97-4532-1321DAC7DF2C}"/>
              </a:ext>
            </a:extLst>
          </p:cNvPr>
          <p:cNvSpPr>
            <a:spLocks noGrp="1"/>
          </p:cNvSpPr>
          <p:nvPr>
            <p:ph type="title"/>
          </p:nvPr>
        </p:nvSpPr>
        <p:spPr>
          <a:xfrm>
            <a:off x="1525874" y="2076450"/>
            <a:ext cx="10018713" cy="2705100"/>
          </a:xfrm>
        </p:spPr>
        <p:txBody>
          <a:bodyPr>
            <a:normAutofit/>
          </a:bodyPr>
          <a:lstStyle/>
          <a:p>
            <a:r>
              <a:rPr lang="en-US" dirty="0"/>
              <a:t>Thank You!</a:t>
            </a:r>
            <a:br>
              <a:rPr lang="en-US" dirty="0"/>
            </a:br>
            <a:br>
              <a:rPr lang="en-US" dirty="0"/>
            </a:br>
            <a:r>
              <a:rPr lang="en-US" dirty="0"/>
              <a:t>Questions?</a:t>
            </a:r>
          </a:p>
        </p:txBody>
      </p:sp>
    </p:spTree>
    <p:extLst>
      <p:ext uri="{BB962C8B-B14F-4D97-AF65-F5344CB8AC3E}">
        <p14:creationId xmlns:p14="http://schemas.microsoft.com/office/powerpoint/2010/main" val="35596453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D24CC-9DD5-A9F0-9A85-520513BBCDB0}"/>
              </a:ext>
            </a:extLst>
          </p:cNvPr>
          <p:cNvSpPr>
            <a:spLocks noGrp="1"/>
          </p:cNvSpPr>
          <p:nvPr>
            <p:ph type="title"/>
          </p:nvPr>
        </p:nvSpPr>
        <p:spPr>
          <a:xfrm>
            <a:off x="1335087" y="339725"/>
            <a:ext cx="10018713" cy="1122218"/>
          </a:xfrm>
        </p:spPr>
        <p:txBody>
          <a:bodyPr/>
          <a:lstStyle/>
          <a:p>
            <a:r>
              <a:rPr lang="en-US" dirty="0"/>
              <a:t>References</a:t>
            </a:r>
          </a:p>
        </p:txBody>
      </p:sp>
      <p:sp>
        <p:nvSpPr>
          <p:cNvPr id="3" name="Content Placeholder 2">
            <a:extLst>
              <a:ext uri="{FF2B5EF4-FFF2-40B4-BE49-F238E27FC236}">
                <a16:creationId xmlns:a16="http://schemas.microsoft.com/office/drawing/2014/main" id="{ECC6C20F-936A-C3FC-D6D9-2D56E0AEBFED}"/>
              </a:ext>
            </a:extLst>
          </p:cNvPr>
          <p:cNvSpPr>
            <a:spLocks noGrp="1"/>
          </p:cNvSpPr>
          <p:nvPr>
            <p:ph idx="1"/>
          </p:nvPr>
        </p:nvSpPr>
        <p:spPr>
          <a:xfrm>
            <a:off x="1335087" y="1461943"/>
            <a:ext cx="10515600" cy="4959638"/>
          </a:xfrm>
        </p:spPr>
        <p:txBody>
          <a:bodyPr>
            <a:noAutofit/>
          </a:bodyPr>
          <a:lstStyle/>
          <a:p>
            <a:pPr marL="0" indent="0">
              <a:buNone/>
            </a:pPr>
            <a:r>
              <a:rPr lang="en-US" sz="1400" dirty="0"/>
              <a:t>[1] National Institute on Deafness and Other Communication Disorders (NIDCD), “Quick Statistics About Hearing, Balance, &amp; Dizziness | NIDCD.” Accessed: Apr. 11, 2026. [Online]. Available: https://www.nidcd.nih.gov/health/statistics/quick-statistics-hearing</a:t>
            </a:r>
          </a:p>
          <a:p>
            <a:pPr marL="0" indent="0">
              <a:buNone/>
            </a:pPr>
            <a:r>
              <a:rPr lang="en-US" sz="1400" dirty="0"/>
              <a:t>[2] Y. Chu et al., “Qwen2-Audio Technical Report,” Jul. 15, 2024, </a:t>
            </a:r>
            <a:r>
              <a:rPr lang="en-US" sz="1400" dirty="0" err="1"/>
              <a:t>arXiv</a:t>
            </a:r>
            <a:r>
              <a:rPr lang="en-US" sz="1400" dirty="0"/>
              <a:t>: arXiv:2407.10759. </a:t>
            </a:r>
            <a:r>
              <a:rPr lang="en-US" sz="1400" dirty="0" err="1"/>
              <a:t>doi</a:t>
            </a:r>
            <a:r>
              <a:rPr lang="en-US" sz="1400" dirty="0"/>
              <a:t>: 10.48550/arXiv.2407.10759.</a:t>
            </a:r>
          </a:p>
          <a:p>
            <a:pPr marL="0" indent="0">
              <a:buNone/>
            </a:pPr>
            <a:r>
              <a:rPr lang="en-US" sz="1400" dirty="0"/>
              <a:t>[3] E. J. Hu et al., “</a:t>
            </a:r>
            <a:r>
              <a:rPr lang="en-US" sz="1400" dirty="0" err="1"/>
              <a:t>LoRA</a:t>
            </a:r>
            <a:r>
              <a:rPr lang="en-US" sz="1400" dirty="0"/>
              <a:t>: Low-Rank Adaptation of Large Language Models,” Oct. 16, 2021, </a:t>
            </a:r>
            <a:r>
              <a:rPr lang="en-US" sz="1400" dirty="0" err="1"/>
              <a:t>arXiv</a:t>
            </a:r>
            <a:r>
              <a:rPr lang="en-US" sz="1400" dirty="0"/>
              <a:t>: arXiv:2106.09685. </a:t>
            </a:r>
            <a:r>
              <a:rPr lang="en-US" sz="1400" dirty="0" err="1"/>
              <a:t>doi</a:t>
            </a:r>
            <a:r>
              <a:rPr lang="en-US" sz="1400" dirty="0"/>
              <a:t>: 10.48550/arXiv.2106.09685.</a:t>
            </a:r>
          </a:p>
          <a:p>
            <a:pPr marL="0" indent="0">
              <a:buNone/>
            </a:pPr>
            <a:r>
              <a:rPr lang="en-US" sz="1400" dirty="0"/>
              <a:t>[4] K. </a:t>
            </a:r>
            <a:r>
              <a:rPr lang="en-US" sz="1400" dirty="0" err="1"/>
              <a:t>Papineni</a:t>
            </a:r>
            <a:r>
              <a:rPr lang="en-US" sz="1400" dirty="0"/>
              <a:t>, S. </a:t>
            </a:r>
            <a:r>
              <a:rPr lang="en-US" sz="1400" dirty="0" err="1"/>
              <a:t>Roukos</a:t>
            </a:r>
            <a:r>
              <a:rPr lang="en-US" sz="1400" dirty="0"/>
              <a:t>, T. Ward, and W.-J. Zhu, “Bleu: a Method for Automatic Evaluation of Machine Translation,” in Proceedings of the 40th Annual Meeting of the Association for Computational Linguistics, P. Isabelle, E. </a:t>
            </a:r>
            <a:r>
              <a:rPr lang="en-US" sz="1400" dirty="0" err="1"/>
              <a:t>Charniak</a:t>
            </a:r>
            <a:r>
              <a:rPr lang="en-US" sz="1400" dirty="0"/>
              <a:t>, and D. Lin, Eds., Philadelphia, Pennsylvania, USA: Association for Computational Linguistics, Jul. 2002, pp. 311–318. </a:t>
            </a:r>
            <a:r>
              <a:rPr lang="en-US" sz="1400" dirty="0" err="1"/>
              <a:t>doi</a:t>
            </a:r>
            <a:r>
              <a:rPr lang="en-US" sz="1400" dirty="0"/>
              <a:t>: 10.3115/1073083.1073135.</a:t>
            </a:r>
          </a:p>
          <a:p>
            <a:pPr marL="0" indent="0">
              <a:buNone/>
            </a:pPr>
            <a:r>
              <a:rPr lang="en-US" sz="1400" dirty="0"/>
              <a:t>[5] S. Banerjee and A. Lavie, “METEOR: An Automatic Metric for MT Evaluation with Improved Correlation with Human Judgments,” in Proceedings of the ACL Workshop on Intrinsic and Extrinsic Evaluation Measures for Machine Translation and/or Summarization, J. Goldstein, A. Lavie, C.-Y. Lin, and C. Voss, Eds., Ann Arbor, Michigan: Association for Computational Linguistics, Jun. 2005, pp. 65–72. </a:t>
            </a:r>
            <a:r>
              <a:rPr lang="en-US" sz="1400" u="sng" dirty="0">
                <a:hlinkClick r:id="rId2"/>
              </a:rPr>
              <a:t>https://aclanthology.org/W05-0909/</a:t>
            </a:r>
            <a:endParaRPr lang="en-US" sz="1400" u="sng" dirty="0"/>
          </a:p>
          <a:p>
            <a:pPr marL="0" indent="0">
              <a:buNone/>
            </a:pPr>
            <a:r>
              <a:rPr lang="en-US" sz="1400" dirty="0"/>
              <a:t>[6] C.-Y. Lin, “ROUGE: A Package for Automatic Evaluation of Summaries,” in Text Summarization Branches Out, Barcelona, Spain: Association for Computational Linguistics, Jul. 2004, pp. 74–81. </a:t>
            </a:r>
            <a:r>
              <a:rPr lang="en-US" sz="1400" u="sng" dirty="0">
                <a:hlinkClick r:id="rId3"/>
              </a:rPr>
              <a:t>https://aclanthology.org/W04-1013/</a:t>
            </a:r>
            <a:endParaRPr lang="en-US" sz="1400" u="sng" dirty="0"/>
          </a:p>
          <a:p>
            <a:pPr marL="0" indent="0">
              <a:buNone/>
            </a:pPr>
            <a:r>
              <a:rPr lang="en-US" sz="1400" dirty="0"/>
              <a:t>[7] T. Zhang, V. Kishore, F. Wu, K. Q. Weinberger, and Y. Artzi, “</a:t>
            </a:r>
            <a:r>
              <a:rPr lang="en-US" sz="1400" dirty="0" err="1"/>
              <a:t>BERTScore</a:t>
            </a:r>
            <a:r>
              <a:rPr lang="en-US" sz="1400" dirty="0"/>
              <a:t>: Evaluating Text Generation with BERT,” in International Conference on Learning Representations (ICLR) 2020, Addis Ababa, Ethiopia: International Conference on Learning Representations, Feb. 2020. </a:t>
            </a:r>
            <a:r>
              <a:rPr lang="en-US" sz="1400" dirty="0" err="1"/>
              <a:t>doi</a:t>
            </a:r>
            <a:r>
              <a:rPr lang="en-US" sz="1400" dirty="0"/>
              <a:t>: 10.48550/arXiv.1904.09675.</a:t>
            </a:r>
          </a:p>
          <a:p>
            <a:pPr marL="0" indent="0">
              <a:buNone/>
            </a:pPr>
            <a:endParaRPr lang="en-US" sz="1600" dirty="0"/>
          </a:p>
        </p:txBody>
      </p:sp>
    </p:spTree>
    <p:extLst>
      <p:ext uri="{BB962C8B-B14F-4D97-AF65-F5344CB8AC3E}">
        <p14:creationId xmlns:p14="http://schemas.microsoft.com/office/powerpoint/2010/main" val="204056706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TM03457496[[fn=Parallax]]</Template>
  <TotalTime>4227</TotalTime>
  <Words>1262</Words>
  <Application>Microsoft Office PowerPoint</Application>
  <PresentationFormat>Widescreen</PresentationFormat>
  <Paragraphs>61</Paragraphs>
  <Slides>12</Slides>
  <Notes>2</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12</vt:i4>
      </vt:variant>
    </vt:vector>
  </HeadingPairs>
  <TitlesOfParts>
    <vt:vector size="18" baseType="lpstr">
      <vt:lpstr>Aptos</vt:lpstr>
      <vt:lpstr>Aptos Display</vt:lpstr>
      <vt:lpstr>Arial</vt:lpstr>
      <vt:lpstr>Corbel</vt:lpstr>
      <vt:lpstr>Parallax</vt:lpstr>
      <vt:lpstr>Office Theme</vt:lpstr>
      <vt:lpstr>Fine-Tuning Musical Descriptions using a Large Audio-Language Model (LALM)</vt:lpstr>
      <vt:lpstr>Problem Statement</vt:lpstr>
      <vt:lpstr>Solution</vt:lpstr>
      <vt:lpstr>Low-Rank Adaptation (LoRA)</vt:lpstr>
      <vt:lpstr>MusicCaps Dataset</vt:lpstr>
      <vt:lpstr>Metrics for Text Output</vt:lpstr>
      <vt:lpstr>Results</vt:lpstr>
      <vt:lpstr>Demonstration and Comparison</vt:lpstr>
      <vt:lpstr>What I Learned</vt:lpstr>
      <vt:lpstr>Limitations and Future Work</vt:lpstr>
      <vt:lpstr>Thank You!  Questions?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Kailey MacFadyen</dc:creator>
  <cp:lastModifiedBy>Kailey MacFadyen</cp:lastModifiedBy>
  <cp:revision>11</cp:revision>
  <dcterms:created xsi:type="dcterms:W3CDTF">2026-04-07T22:53:33Z</dcterms:created>
  <dcterms:modified xsi:type="dcterms:W3CDTF">2026-04-13T22:02:41Z</dcterms:modified>
</cp:coreProperties>
</file>